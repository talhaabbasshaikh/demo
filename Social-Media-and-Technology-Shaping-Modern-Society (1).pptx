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610"/>
  </p:normalViewPr>
  <p:slideViewPr>
    <p:cSldViewPr snapToGrid="0" snapToObjects="1">
      <p:cViewPr varScale="1">
        <p:scale>
          <a:sx n="61" d="100"/>
          <a:sy n="61" d="100"/>
        </p:scale>
        <p:origin x="6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569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txBody>
          <a:bodyPr/>
          <a:lstStyle/>
          <a:p>
            <a:r>
              <a:rPr lang="en-US" dirty="0"/>
              <a:t>TT</a:t>
            </a:r>
          </a:p>
        </p:txBody>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774383" y="689253"/>
            <a:ext cx="7610475" cy="2576393"/>
          </a:xfrm>
          <a:prstGeom prst="rect">
            <a:avLst/>
          </a:prstGeom>
          <a:noFill/>
          <a:ln/>
        </p:spPr>
        <p:txBody>
          <a:bodyPr wrap="square" rtlCol="0" anchor="t"/>
          <a:lstStyle/>
          <a:p>
            <a:pPr marL="0" indent="0">
              <a:lnSpc>
                <a:spcPts val="6763"/>
              </a:lnSpc>
              <a:buNone/>
            </a:pPr>
            <a:r>
              <a:rPr lang="en-US" sz="5411" b="1" kern="0" spc="-54" dirty="0">
                <a:solidFill>
                  <a:srgbClr val="FFFFFF"/>
                </a:solidFill>
                <a:latin typeface="Montserrat" pitchFamily="34" charset="0"/>
                <a:ea typeface="Montserrat" pitchFamily="34" charset="-122"/>
                <a:cs typeface="Montserrat" pitchFamily="34" charset="-120"/>
              </a:rPr>
              <a:t>Social Media and Technology: Shaping Modern Society</a:t>
            </a:r>
            <a:endParaRPr lang="en-US" sz="5411" dirty="0"/>
          </a:p>
        </p:txBody>
      </p:sp>
      <p:sp>
        <p:nvSpPr>
          <p:cNvPr id="6" name="Text 3"/>
          <p:cNvSpPr/>
          <p:nvPr/>
        </p:nvSpPr>
        <p:spPr>
          <a:xfrm>
            <a:off x="766763" y="4102179"/>
            <a:ext cx="7610475" cy="2300288"/>
          </a:xfrm>
          <a:prstGeom prst="rect">
            <a:avLst/>
          </a:prstGeom>
          <a:noFill/>
          <a:ln/>
        </p:spPr>
        <p:txBody>
          <a:bodyPr wrap="square" rtlCol="0" anchor="t"/>
          <a:lstStyle/>
          <a:p>
            <a:pPr marL="0" indent="0">
              <a:lnSpc>
                <a:spcPts val="2588"/>
              </a:lnSpc>
              <a:buNone/>
            </a:pPr>
            <a:r>
              <a:rPr lang="en-US" sz="1725" dirty="0">
                <a:solidFill>
                  <a:srgbClr val="E2E6E9"/>
                </a:solidFill>
                <a:latin typeface="Source Sans Pro" pitchFamily="34" charset="0"/>
                <a:ea typeface="Source Sans Pro" pitchFamily="34" charset="-122"/>
                <a:cs typeface="Source Sans Pro" pitchFamily="34" charset="-120"/>
              </a:rPr>
              <a:t>Social media and technology have become integral components of modern society, impacting various aspects of daily life, from communication and relationships to education and business. Understanding their importance is crucial for comprehending how they shape individual behaviors, societal norms, and global interactions. This research explores the influence of social media on public opinion, methodologies for studying its effects, and key challenges and future directions in this rapidly evolving field.</a:t>
            </a:r>
            <a:endParaRPr lang="en-US" sz="1725" dirty="0"/>
          </a:p>
        </p:txBody>
      </p:sp>
      <p:sp>
        <p:nvSpPr>
          <p:cNvPr id="11" name="TextBox 10">
            <a:extLst>
              <a:ext uri="{FF2B5EF4-FFF2-40B4-BE49-F238E27FC236}">
                <a16:creationId xmlns:a16="http://schemas.microsoft.com/office/drawing/2014/main" id="{BCC56B18-E124-1805-30CC-31703FD149B9}"/>
              </a:ext>
            </a:extLst>
          </p:cNvPr>
          <p:cNvSpPr txBox="1"/>
          <p:nvPr/>
        </p:nvSpPr>
        <p:spPr>
          <a:xfrm>
            <a:off x="1447800" y="7239000"/>
            <a:ext cx="1974836" cy="646331"/>
          </a:xfrm>
          <a:prstGeom prst="rect">
            <a:avLst/>
          </a:prstGeom>
          <a:noFill/>
        </p:spPr>
        <p:txBody>
          <a:bodyPr wrap="none" rtlCol="0">
            <a:spAutoFit/>
          </a:bodyPr>
          <a:lstStyle/>
          <a:p>
            <a:r>
              <a:rPr lang="en-US" dirty="0">
                <a:solidFill>
                  <a:schemeClr val="bg1"/>
                </a:solidFill>
              </a:rPr>
              <a:t>Talha Abbas Shaikh</a:t>
            </a:r>
          </a:p>
          <a:p>
            <a:r>
              <a:rPr lang="en-US" dirty="0">
                <a:solidFill>
                  <a:schemeClr val="bg1"/>
                </a:solidFill>
              </a:rPr>
              <a:t>VR512332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32577"/>
          </a:xfrm>
          <a:prstGeom prst="rect">
            <a:avLst/>
          </a:prstGeom>
          <a:solidFill>
            <a:srgbClr val="111213"/>
          </a:solidFill>
          <a:ln/>
        </p:spPr>
      </p:sp>
      <p:sp>
        <p:nvSpPr>
          <p:cNvPr id="4" name="Text 2"/>
          <p:cNvSpPr/>
          <p:nvPr/>
        </p:nvSpPr>
        <p:spPr>
          <a:xfrm>
            <a:off x="1622584" y="630436"/>
            <a:ext cx="7614761" cy="651272"/>
          </a:xfrm>
          <a:prstGeom prst="rect">
            <a:avLst/>
          </a:prstGeom>
          <a:noFill/>
          <a:ln/>
        </p:spPr>
        <p:txBody>
          <a:bodyPr wrap="none" rtlCol="0" anchor="t"/>
          <a:lstStyle/>
          <a:p>
            <a:pPr marL="0" indent="0">
              <a:lnSpc>
                <a:spcPts val="5129"/>
              </a:lnSpc>
              <a:buNone/>
            </a:pPr>
            <a:r>
              <a:rPr lang="en-US" sz="4103" b="1" kern="0" spc="-41" dirty="0">
                <a:solidFill>
                  <a:srgbClr val="FFFFFF"/>
                </a:solidFill>
                <a:latin typeface="Montserrat" pitchFamily="34" charset="0"/>
                <a:ea typeface="Montserrat" pitchFamily="34" charset="-122"/>
                <a:cs typeface="Montserrat" pitchFamily="34" charset="-120"/>
              </a:rPr>
              <a:t>The Evolution of Technology</a:t>
            </a:r>
            <a:endParaRPr lang="en-US" sz="4103" dirty="0"/>
          </a:p>
        </p:txBody>
      </p:sp>
      <p:sp>
        <p:nvSpPr>
          <p:cNvPr id="5" name="Text 3"/>
          <p:cNvSpPr/>
          <p:nvPr/>
        </p:nvSpPr>
        <p:spPr>
          <a:xfrm>
            <a:off x="1622584" y="1740218"/>
            <a:ext cx="11385233" cy="1375886"/>
          </a:xfrm>
          <a:prstGeom prst="rect">
            <a:avLst/>
          </a:prstGeom>
          <a:noFill/>
          <a:ln/>
        </p:spPr>
        <p:txBody>
          <a:bodyPr wrap="square" rtlCol="0" anchor="t"/>
          <a:lstStyle/>
          <a:p>
            <a:pPr marL="0" indent="0">
              <a:lnSpc>
                <a:spcPts val="2708"/>
              </a:lnSpc>
              <a:buNone/>
            </a:pPr>
            <a:r>
              <a:rPr lang="en-US" sz="1805" dirty="0">
                <a:solidFill>
                  <a:srgbClr val="E2E6E9"/>
                </a:solidFill>
                <a:latin typeface="Source Sans Pro" pitchFamily="34" charset="0"/>
                <a:ea typeface="Source Sans Pro" pitchFamily="34" charset="-122"/>
                <a:cs typeface="Source Sans Pro" pitchFamily="34" charset="-120"/>
              </a:rPr>
              <a:t>The history of technology is a story of innovation and transformation that has significantly shaped human civilization. From the invention of the wheel to the development of the internet, technological advancements have driven progress in various fields, leading to the modern digital age. These innovations have revolutionized communication, social interactions, and access to information, creating a landscape ripe for research across various disciplines.</a:t>
            </a:r>
            <a:endParaRPr lang="en-US" sz="1805" dirty="0"/>
          </a:p>
        </p:txBody>
      </p:sp>
      <p:sp>
        <p:nvSpPr>
          <p:cNvPr id="6" name="Shape 4"/>
          <p:cNvSpPr/>
          <p:nvPr/>
        </p:nvSpPr>
        <p:spPr>
          <a:xfrm>
            <a:off x="1622584" y="3717846"/>
            <a:ext cx="11385233" cy="28575"/>
          </a:xfrm>
          <a:prstGeom prst="rect">
            <a:avLst/>
          </a:prstGeom>
          <a:solidFill>
            <a:srgbClr val="FFFFFF"/>
          </a:solidFill>
          <a:ln/>
        </p:spPr>
      </p:sp>
      <p:sp>
        <p:nvSpPr>
          <p:cNvPr id="7" name="Shape 5"/>
          <p:cNvSpPr/>
          <p:nvPr/>
        </p:nvSpPr>
        <p:spPr>
          <a:xfrm>
            <a:off x="2945487" y="3717846"/>
            <a:ext cx="28575" cy="802362"/>
          </a:xfrm>
          <a:prstGeom prst="rect">
            <a:avLst/>
          </a:prstGeom>
          <a:solidFill>
            <a:srgbClr val="FFFFFF"/>
          </a:solidFill>
          <a:ln/>
        </p:spPr>
      </p:sp>
      <p:sp>
        <p:nvSpPr>
          <p:cNvPr id="8" name="Shape 6"/>
          <p:cNvSpPr/>
          <p:nvPr/>
        </p:nvSpPr>
        <p:spPr>
          <a:xfrm>
            <a:off x="2701885" y="3459956"/>
            <a:ext cx="515779" cy="515779"/>
          </a:xfrm>
          <a:prstGeom prst="roundRect">
            <a:avLst>
              <a:gd name="adj" fmla="val 13335"/>
            </a:avLst>
          </a:prstGeom>
          <a:solidFill>
            <a:srgbClr val="232629"/>
          </a:solidFill>
          <a:ln/>
        </p:spPr>
      </p:sp>
      <p:sp>
        <p:nvSpPr>
          <p:cNvPr id="9" name="Text 7"/>
          <p:cNvSpPr/>
          <p:nvPr/>
        </p:nvSpPr>
        <p:spPr>
          <a:xfrm>
            <a:off x="2900005" y="3561517"/>
            <a:ext cx="119420" cy="312658"/>
          </a:xfrm>
          <a:prstGeom prst="rect">
            <a:avLst/>
          </a:prstGeom>
          <a:noFill/>
          <a:ln/>
        </p:spPr>
        <p:txBody>
          <a:bodyPr wrap="none" rtlCol="0" anchor="t"/>
          <a:lstStyle/>
          <a:p>
            <a:pPr marL="0" indent="0" algn="ctr">
              <a:lnSpc>
                <a:spcPts val="2462"/>
              </a:lnSpc>
              <a:buNone/>
            </a:pPr>
            <a:r>
              <a:rPr lang="en-US" sz="2462" b="1" kern="0" spc="-25" dirty="0">
                <a:solidFill>
                  <a:srgbClr val="FFFFFF"/>
                </a:solidFill>
                <a:latin typeface="Montserrat" pitchFamily="34" charset="0"/>
                <a:ea typeface="Montserrat" pitchFamily="34" charset="-122"/>
                <a:cs typeface="Montserrat" pitchFamily="34" charset="-120"/>
              </a:rPr>
              <a:t>1</a:t>
            </a:r>
            <a:endParaRPr lang="en-US" sz="2462" dirty="0"/>
          </a:p>
        </p:txBody>
      </p:sp>
      <p:sp>
        <p:nvSpPr>
          <p:cNvPr id="10" name="Text 8"/>
          <p:cNvSpPr/>
          <p:nvPr/>
        </p:nvSpPr>
        <p:spPr>
          <a:xfrm>
            <a:off x="1851779" y="4749522"/>
            <a:ext cx="2215991" cy="651272"/>
          </a:xfrm>
          <a:prstGeom prst="rect">
            <a:avLst/>
          </a:prstGeom>
          <a:noFill/>
          <a:ln/>
        </p:spPr>
        <p:txBody>
          <a:bodyPr wrap="square" rtlCol="0" anchor="t"/>
          <a:lstStyle/>
          <a:p>
            <a:pPr marL="0" indent="0" algn="ctr">
              <a:lnSpc>
                <a:spcPts val="2564"/>
              </a:lnSpc>
              <a:buNone/>
            </a:pPr>
            <a:r>
              <a:rPr lang="en-US" sz="2051" b="1" kern="0" spc="-21" dirty="0">
                <a:solidFill>
                  <a:srgbClr val="FFFFFF"/>
                </a:solidFill>
                <a:latin typeface="Montserrat" pitchFamily="34" charset="0"/>
                <a:ea typeface="Montserrat" pitchFamily="34" charset="-122"/>
                <a:cs typeface="Montserrat" pitchFamily="34" charset="-120"/>
              </a:rPr>
              <a:t>Ancient Innovations</a:t>
            </a:r>
            <a:endParaRPr lang="en-US" sz="2051" dirty="0"/>
          </a:p>
        </p:txBody>
      </p:sp>
      <p:sp>
        <p:nvSpPr>
          <p:cNvPr id="11" name="Text 9"/>
          <p:cNvSpPr/>
          <p:nvPr/>
        </p:nvSpPr>
        <p:spPr>
          <a:xfrm>
            <a:off x="1851779" y="5538311"/>
            <a:ext cx="2215991" cy="2063829"/>
          </a:xfrm>
          <a:prstGeom prst="rect">
            <a:avLst/>
          </a:prstGeom>
          <a:noFill/>
          <a:ln/>
        </p:spPr>
        <p:txBody>
          <a:bodyPr wrap="square" rtlCol="0" anchor="t"/>
          <a:lstStyle/>
          <a:p>
            <a:pPr marL="0" indent="0" algn="ctr">
              <a:lnSpc>
                <a:spcPts val="2708"/>
              </a:lnSpc>
              <a:buNone/>
            </a:pPr>
            <a:r>
              <a:rPr lang="en-US" sz="1805" dirty="0">
                <a:solidFill>
                  <a:srgbClr val="E2E6E9"/>
                </a:solidFill>
                <a:latin typeface="Source Sans Pro" pitchFamily="34" charset="0"/>
                <a:ea typeface="Source Sans Pro" pitchFamily="34" charset="-122"/>
                <a:cs typeface="Source Sans Pro" pitchFamily="34" charset="-120"/>
              </a:rPr>
              <a:t>Early technological advancements like the wheel and writing systems laid the foundation for human progress.</a:t>
            </a:r>
            <a:endParaRPr lang="en-US" sz="1805" dirty="0"/>
          </a:p>
        </p:txBody>
      </p:sp>
      <p:sp>
        <p:nvSpPr>
          <p:cNvPr id="12" name="Shape 10"/>
          <p:cNvSpPr/>
          <p:nvPr/>
        </p:nvSpPr>
        <p:spPr>
          <a:xfrm>
            <a:off x="5849064" y="3717846"/>
            <a:ext cx="28575" cy="802362"/>
          </a:xfrm>
          <a:prstGeom prst="rect">
            <a:avLst/>
          </a:prstGeom>
          <a:solidFill>
            <a:srgbClr val="FFFFFF"/>
          </a:solidFill>
          <a:ln/>
        </p:spPr>
      </p:sp>
      <p:sp>
        <p:nvSpPr>
          <p:cNvPr id="13" name="Shape 11"/>
          <p:cNvSpPr/>
          <p:nvPr/>
        </p:nvSpPr>
        <p:spPr>
          <a:xfrm>
            <a:off x="5605463" y="3459956"/>
            <a:ext cx="515779" cy="515779"/>
          </a:xfrm>
          <a:prstGeom prst="roundRect">
            <a:avLst>
              <a:gd name="adj" fmla="val 13335"/>
            </a:avLst>
          </a:prstGeom>
          <a:solidFill>
            <a:srgbClr val="232629"/>
          </a:solidFill>
          <a:ln/>
        </p:spPr>
      </p:sp>
      <p:sp>
        <p:nvSpPr>
          <p:cNvPr id="14" name="Text 12"/>
          <p:cNvSpPr/>
          <p:nvPr/>
        </p:nvSpPr>
        <p:spPr>
          <a:xfrm>
            <a:off x="5772626" y="3561517"/>
            <a:ext cx="181332" cy="312658"/>
          </a:xfrm>
          <a:prstGeom prst="rect">
            <a:avLst/>
          </a:prstGeom>
          <a:noFill/>
          <a:ln/>
        </p:spPr>
        <p:txBody>
          <a:bodyPr wrap="none" rtlCol="0" anchor="t"/>
          <a:lstStyle/>
          <a:p>
            <a:pPr marL="0" indent="0" algn="ctr">
              <a:lnSpc>
                <a:spcPts val="2462"/>
              </a:lnSpc>
              <a:buNone/>
            </a:pPr>
            <a:r>
              <a:rPr lang="en-US" sz="2462" b="1" kern="0" spc="-25" dirty="0">
                <a:solidFill>
                  <a:srgbClr val="FFFFFF"/>
                </a:solidFill>
                <a:latin typeface="Montserrat" pitchFamily="34" charset="0"/>
                <a:ea typeface="Montserrat" pitchFamily="34" charset="-122"/>
                <a:cs typeface="Montserrat" pitchFamily="34" charset="-120"/>
              </a:rPr>
              <a:t>2</a:t>
            </a:r>
            <a:endParaRPr lang="en-US" sz="2462" dirty="0"/>
          </a:p>
        </p:txBody>
      </p:sp>
      <p:sp>
        <p:nvSpPr>
          <p:cNvPr id="15" name="Text 13"/>
          <p:cNvSpPr/>
          <p:nvPr/>
        </p:nvSpPr>
        <p:spPr>
          <a:xfrm>
            <a:off x="4755356" y="4749522"/>
            <a:ext cx="2215991" cy="651272"/>
          </a:xfrm>
          <a:prstGeom prst="rect">
            <a:avLst/>
          </a:prstGeom>
          <a:noFill/>
          <a:ln/>
        </p:spPr>
        <p:txBody>
          <a:bodyPr wrap="square" rtlCol="0" anchor="t"/>
          <a:lstStyle/>
          <a:p>
            <a:pPr marL="0" indent="0" algn="ctr">
              <a:lnSpc>
                <a:spcPts val="2564"/>
              </a:lnSpc>
              <a:buNone/>
            </a:pPr>
            <a:r>
              <a:rPr lang="en-US" sz="2051" b="1" kern="0" spc="-21" dirty="0">
                <a:solidFill>
                  <a:srgbClr val="FFFFFF"/>
                </a:solidFill>
                <a:latin typeface="Montserrat" pitchFamily="34" charset="0"/>
                <a:ea typeface="Montserrat" pitchFamily="34" charset="-122"/>
                <a:cs typeface="Montserrat" pitchFamily="34" charset="-120"/>
              </a:rPr>
              <a:t>Industrial Revolution</a:t>
            </a:r>
            <a:endParaRPr lang="en-US" sz="2051" dirty="0"/>
          </a:p>
        </p:txBody>
      </p:sp>
      <p:sp>
        <p:nvSpPr>
          <p:cNvPr id="16" name="Text 14"/>
          <p:cNvSpPr/>
          <p:nvPr/>
        </p:nvSpPr>
        <p:spPr>
          <a:xfrm>
            <a:off x="4755356" y="5538311"/>
            <a:ext cx="2215991" cy="2063829"/>
          </a:xfrm>
          <a:prstGeom prst="rect">
            <a:avLst/>
          </a:prstGeom>
          <a:noFill/>
          <a:ln/>
        </p:spPr>
        <p:txBody>
          <a:bodyPr wrap="square" rtlCol="0" anchor="t"/>
          <a:lstStyle/>
          <a:p>
            <a:pPr marL="0" indent="0" algn="ctr">
              <a:lnSpc>
                <a:spcPts val="2708"/>
              </a:lnSpc>
              <a:buNone/>
            </a:pPr>
            <a:r>
              <a:rPr lang="en-US" sz="1805" dirty="0">
                <a:solidFill>
                  <a:srgbClr val="E2E6E9"/>
                </a:solidFill>
                <a:latin typeface="Source Sans Pro" pitchFamily="34" charset="0"/>
                <a:ea typeface="Source Sans Pro" pitchFamily="34" charset="-122"/>
                <a:cs typeface="Source Sans Pro" pitchFamily="34" charset="-120"/>
              </a:rPr>
              <a:t>Mechanization and mass production transformed society, leading to rapid economic and social changes.</a:t>
            </a:r>
            <a:endParaRPr lang="en-US" sz="1805" dirty="0"/>
          </a:p>
        </p:txBody>
      </p:sp>
      <p:sp>
        <p:nvSpPr>
          <p:cNvPr id="17" name="Shape 15"/>
          <p:cNvSpPr/>
          <p:nvPr/>
        </p:nvSpPr>
        <p:spPr>
          <a:xfrm>
            <a:off x="8752642" y="3717846"/>
            <a:ext cx="28575" cy="802362"/>
          </a:xfrm>
          <a:prstGeom prst="rect">
            <a:avLst/>
          </a:prstGeom>
          <a:solidFill>
            <a:srgbClr val="FFFFFF"/>
          </a:solidFill>
          <a:ln/>
        </p:spPr>
      </p:sp>
      <p:sp>
        <p:nvSpPr>
          <p:cNvPr id="18" name="Shape 16"/>
          <p:cNvSpPr/>
          <p:nvPr/>
        </p:nvSpPr>
        <p:spPr>
          <a:xfrm>
            <a:off x="8509040" y="3459956"/>
            <a:ext cx="515779" cy="515779"/>
          </a:xfrm>
          <a:prstGeom prst="roundRect">
            <a:avLst>
              <a:gd name="adj" fmla="val 13335"/>
            </a:avLst>
          </a:prstGeom>
          <a:solidFill>
            <a:srgbClr val="232629"/>
          </a:solidFill>
          <a:ln/>
        </p:spPr>
      </p:sp>
      <p:sp>
        <p:nvSpPr>
          <p:cNvPr id="19" name="Text 17"/>
          <p:cNvSpPr/>
          <p:nvPr/>
        </p:nvSpPr>
        <p:spPr>
          <a:xfrm>
            <a:off x="8675965" y="3561517"/>
            <a:ext cx="181928" cy="312658"/>
          </a:xfrm>
          <a:prstGeom prst="rect">
            <a:avLst/>
          </a:prstGeom>
          <a:noFill/>
          <a:ln/>
        </p:spPr>
        <p:txBody>
          <a:bodyPr wrap="none" rtlCol="0" anchor="t"/>
          <a:lstStyle/>
          <a:p>
            <a:pPr marL="0" indent="0" algn="ctr">
              <a:lnSpc>
                <a:spcPts val="2462"/>
              </a:lnSpc>
              <a:buNone/>
            </a:pPr>
            <a:r>
              <a:rPr lang="en-US" sz="2462" b="1" kern="0" spc="-25" dirty="0">
                <a:solidFill>
                  <a:srgbClr val="FFFFFF"/>
                </a:solidFill>
                <a:latin typeface="Montserrat" pitchFamily="34" charset="0"/>
                <a:ea typeface="Montserrat" pitchFamily="34" charset="-122"/>
                <a:cs typeface="Montserrat" pitchFamily="34" charset="-120"/>
              </a:rPr>
              <a:t>3</a:t>
            </a:r>
            <a:endParaRPr lang="en-US" sz="2462" dirty="0"/>
          </a:p>
        </p:txBody>
      </p:sp>
      <p:sp>
        <p:nvSpPr>
          <p:cNvPr id="20" name="Text 18"/>
          <p:cNvSpPr/>
          <p:nvPr/>
        </p:nvSpPr>
        <p:spPr>
          <a:xfrm>
            <a:off x="7658933" y="4749522"/>
            <a:ext cx="2215991" cy="325636"/>
          </a:xfrm>
          <a:prstGeom prst="rect">
            <a:avLst/>
          </a:prstGeom>
          <a:noFill/>
          <a:ln/>
        </p:spPr>
        <p:txBody>
          <a:bodyPr wrap="none" rtlCol="0" anchor="t"/>
          <a:lstStyle/>
          <a:p>
            <a:pPr marL="0" indent="0" algn="ctr">
              <a:lnSpc>
                <a:spcPts val="2564"/>
              </a:lnSpc>
              <a:buNone/>
            </a:pPr>
            <a:r>
              <a:rPr lang="en-US" sz="2051" b="1" kern="0" spc="-21" dirty="0">
                <a:solidFill>
                  <a:srgbClr val="FFFFFF"/>
                </a:solidFill>
                <a:latin typeface="Montserrat" pitchFamily="34" charset="0"/>
                <a:ea typeface="Montserrat" pitchFamily="34" charset="-122"/>
                <a:cs typeface="Montserrat" pitchFamily="34" charset="-120"/>
              </a:rPr>
              <a:t>Digital Age</a:t>
            </a:r>
            <a:endParaRPr lang="en-US" sz="2051" dirty="0"/>
          </a:p>
        </p:txBody>
      </p:sp>
      <p:sp>
        <p:nvSpPr>
          <p:cNvPr id="21" name="Text 19"/>
          <p:cNvSpPr/>
          <p:nvPr/>
        </p:nvSpPr>
        <p:spPr>
          <a:xfrm>
            <a:off x="7658933" y="5212675"/>
            <a:ext cx="2215991" cy="2063829"/>
          </a:xfrm>
          <a:prstGeom prst="rect">
            <a:avLst/>
          </a:prstGeom>
          <a:noFill/>
          <a:ln/>
        </p:spPr>
        <p:txBody>
          <a:bodyPr wrap="square" rtlCol="0" anchor="t"/>
          <a:lstStyle/>
          <a:p>
            <a:pPr marL="0" indent="0" algn="ctr">
              <a:lnSpc>
                <a:spcPts val="2708"/>
              </a:lnSpc>
              <a:buNone/>
            </a:pPr>
            <a:r>
              <a:rPr lang="en-US" sz="1805" dirty="0">
                <a:solidFill>
                  <a:srgbClr val="E2E6E9"/>
                </a:solidFill>
                <a:latin typeface="Source Sans Pro" pitchFamily="34" charset="0"/>
                <a:ea typeface="Source Sans Pro" pitchFamily="34" charset="-122"/>
                <a:cs typeface="Source Sans Pro" pitchFamily="34" charset="-120"/>
              </a:rPr>
              <a:t>The invention of computers and the internet ushered in an era of unprecedented connectivity and information access.</a:t>
            </a:r>
            <a:endParaRPr lang="en-US" sz="1805" dirty="0"/>
          </a:p>
        </p:txBody>
      </p:sp>
      <p:sp>
        <p:nvSpPr>
          <p:cNvPr id="22" name="Shape 20"/>
          <p:cNvSpPr/>
          <p:nvPr/>
        </p:nvSpPr>
        <p:spPr>
          <a:xfrm>
            <a:off x="11656219" y="3717846"/>
            <a:ext cx="28575" cy="802362"/>
          </a:xfrm>
          <a:prstGeom prst="rect">
            <a:avLst/>
          </a:prstGeom>
          <a:solidFill>
            <a:srgbClr val="FFFFFF"/>
          </a:solidFill>
          <a:ln/>
        </p:spPr>
      </p:sp>
      <p:sp>
        <p:nvSpPr>
          <p:cNvPr id="23" name="Shape 21"/>
          <p:cNvSpPr/>
          <p:nvPr/>
        </p:nvSpPr>
        <p:spPr>
          <a:xfrm>
            <a:off x="11412617" y="3459956"/>
            <a:ext cx="515779" cy="515779"/>
          </a:xfrm>
          <a:prstGeom prst="roundRect">
            <a:avLst>
              <a:gd name="adj" fmla="val 13335"/>
            </a:avLst>
          </a:prstGeom>
          <a:solidFill>
            <a:srgbClr val="232629"/>
          </a:solidFill>
          <a:ln/>
        </p:spPr>
      </p:sp>
      <p:sp>
        <p:nvSpPr>
          <p:cNvPr id="24" name="Text 22"/>
          <p:cNvSpPr/>
          <p:nvPr/>
        </p:nvSpPr>
        <p:spPr>
          <a:xfrm>
            <a:off x="11564303" y="3561517"/>
            <a:ext cx="212288" cy="312658"/>
          </a:xfrm>
          <a:prstGeom prst="rect">
            <a:avLst/>
          </a:prstGeom>
          <a:noFill/>
          <a:ln/>
        </p:spPr>
        <p:txBody>
          <a:bodyPr wrap="none" rtlCol="0" anchor="t"/>
          <a:lstStyle/>
          <a:p>
            <a:pPr marL="0" indent="0" algn="ctr">
              <a:lnSpc>
                <a:spcPts val="2462"/>
              </a:lnSpc>
              <a:buNone/>
            </a:pPr>
            <a:r>
              <a:rPr lang="en-US" sz="2462" b="1" kern="0" spc="-25" dirty="0">
                <a:solidFill>
                  <a:srgbClr val="FFFFFF"/>
                </a:solidFill>
                <a:latin typeface="Montserrat" pitchFamily="34" charset="0"/>
                <a:ea typeface="Montserrat" pitchFamily="34" charset="-122"/>
                <a:cs typeface="Montserrat" pitchFamily="34" charset="-120"/>
              </a:rPr>
              <a:t>4</a:t>
            </a:r>
            <a:endParaRPr lang="en-US" sz="2462" dirty="0"/>
          </a:p>
        </p:txBody>
      </p:sp>
      <p:sp>
        <p:nvSpPr>
          <p:cNvPr id="25" name="Text 23"/>
          <p:cNvSpPr/>
          <p:nvPr/>
        </p:nvSpPr>
        <p:spPr>
          <a:xfrm>
            <a:off x="10562511" y="4749522"/>
            <a:ext cx="2216110" cy="325636"/>
          </a:xfrm>
          <a:prstGeom prst="rect">
            <a:avLst/>
          </a:prstGeom>
          <a:noFill/>
          <a:ln/>
        </p:spPr>
        <p:txBody>
          <a:bodyPr wrap="none" rtlCol="0" anchor="t"/>
          <a:lstStyle/>
          <a:p>
            <a:pPr marL="0" indent="0" algn="ctr">
              <a:lnSpc>
                <a:spcPts val="2564"/>
              </a:lnSpc>
              <a:buNone/>
            </a:pPr>
            <a:r>
              <a:rPr lang="en-US" sz="2051" b="1" kern="0" spc="-21" dirty="0">
                <a:solidFill>
                  <a:srgbClr val="FFFFFF"/>
                </a:solidFill>
                <a:latin typeface="Montserrat" pitchFamily="34" charset="0"/>
                <a:ea typeface="Montserrat" pitchFamily="34" charset="-122"/>
                <a:cs typeface="Montserrat" pitchFamily="34" charset="-120"/>
              </a:rPr>
              <a:t>Social Media Era</a:t>
            </a:r>
            <a:endParaRPr lang="en-US" sz="2051" dirty="0"/>
          </a:p>
        </p:txBody>
      </p:sp>
      <p:sp>
        <p:nvSpPr>
          <p:cNvPr id="26" name="Text 24"/>
          <p:cNvSpPr/>
          <p:nvPr/>
        </p:nvSpPr>
        <p:spPr>
          <a:xfrm>
            <a:off x="10562511" y="5212675"/>
            <a:ext cx="2216110" cy="2063829"/>
          </a:xfrm>
          <a:prstGeom prst="rect">
            <a:avLst/>
          </a:prstGeom>
          <a:noFill/>
          <a:ln/>
        </p:spPr>
        <p:txBody>
          <a:bodyPr wrap="square" rtlCol="0" anchor="t"/>
          <a:lstStyle/>
          <a:p>
            <a:pPr marL="0" indent="0" algn="ctr">
              <a:lnSpc>
                <a:spcPts val="2708"/>
              </a:lnSpc>
              <a:buNone/>
            </a:pPr>
            <a:r>
              <a:rPr lang="en-US" sz="1805" dirty="0">
                <a:solidFill>
                  <a:srgbClr val="E2E6E9"/>
                </a:solidFill>
                <a:latin typeface="Source Sans Pro" pitchFamily="34" charset="0"/>
                <a:ea typeface="Source Sans Pro" pitchFamily="34" charset="-122"/>
                <a:cs typeface="Source Sans Pro" pitchFamily="34" charset="-120"/>
              </a:rPr>
              <a:t>Platforms like Facebook and Twitter revolutionized communication and social interaction on a global scale.</a:t>
            </a:r>
            <a:endParaRPr lang="en-US" sz="180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901904" y="599956"/>
            <a:ext cx="10826591" cy="1238726"/>
          </a:xfrm>
          <a:prstGeom prst="rect">
            <a:avLst/>
          </a:prstGeom>
          <a:noFill/>
          <a:ln/>
        </p:spPr>
        <p:txBody>
          <a:bodyPr wrap="square" rtlCol="0" anchor="t"/>
          <a:lstStyle/>
          <a:p>
            <a:pPr marL="0" indent="0">
              <a:lnSpc>
                <a:spcPts val="4877"/>
              </a:lnSpc>
              <a:buNone/>
            </a:pPr>
            <a:r>
              <a:rPr lang="en-US" sz="3902" b="1" kern="0" spc="-39" dirty="0">
                <a:solidFill>
                  <a:srgbClr val="FFFFFF"/>
                </a:solidFill>
                <a:latin typeface="Montserrat" pitchFamily="34" charset="0"/>
                <a:ea typeface="Montserrat" pitchFamily="34" charset="-122"/>
                <a:cs typeface="Montserrat" pitchFamily="34" charset="-120"/>
              </a:rPr>
              <a:t>Influence of Social Media on Public Opinion</a:t>
            </a:r>
            <a:endParaRPr lang="en-US" sz="3902" dirty="0"/>
          </a:p>
        </p:txBody>
      </p:sp>
      <p:sp>
        <p:nvSpPr>
          <p:cNvPr id="5" name="Text 3"/>
          <p:cNvSpPr/>
          <p:nvPr/>
        </p:nvSpPr>
        <p:spPr>
          <a:xfrm>
            <a:off x="1901904" y="2274689"/>
            <a:ext cx="10826591" cy="1634728"/>
          </a:xfrm>
          <a:prstGeom prst="rect">
            <a:avLst/>
          </a:prstGeom>
          <a:noFill/>
          <a:ln/>
        </p:spPr>
        <p:txBody>
          <a:bodyPr wrap="square" rtlCol="0" anchor="t"/>
          <a:lstStyle/>
          <a:p>
            <a:pPr marL="0" indent="0">
              <a:lnSpc>
                <a:spcPts val="2575"/>
              </a:lnSpc>
              <a:buNone/>
            </a:pPr>
            <a:r>
              <a:rPr lang="en-US" sz="1717" dirty="0">
                <a:solidFill>
                  <a:srgbClr val="E2E6E9"/>
                </a:solidFill>
                <a:latin typeface="Source Sans Pro" pitchFamily="34" charset="0"/>
                <a:ea typeface="Source Sans Pro" pitchFamily="34" charset="-122"/>
                <a:cs typeface="Source Sans Pro" pitchFamily="34" charset="-120"/>
              </a:rPr>
              <a:t>Social media platforms have a significant influence on public opinion by providing a space for individuals to share information, express opinions, and engage in discussions. These platforms can amplify voices, spread news rapidly, and create echo chambers where users are exposed primarily to views that align with their own. This process affects how people perceive and interpret various social, political, and economic issues, shaping public discourse and societal attitudes.</a:t>
            </a:r>
            <a:endParaRPr lang="en-US" sz="1717" dirty="0"/>
          </a:p>
        </p:txBody>
      </p:sp>
      <p:pic>
        <p:nvPicPr>
          <p:cNvPr id="6" name="Image 0" descr="preencoded.png"/>
          <p:cNvPicPr>
            <a:picLocks noChangeAspect="1"/>
          </p:cNvPicPr>
          <p:nvPr/>
        </p:nvPicPr>
        <p:blipFill>
          <a:blip r:embed="rId3"/>
          <a:stretch>
            <a:fillRect/>
          </a:stretch>
        </p:blipFill>
        <p:spPr>
          <a:xfrm>
            <a:off x="1901904" y="4154686"/>
            <a:ext cx="2706648" cy="872014"/>
          </a:xfrm>
          <a:prstGeom prst="rect">
            <a:avLst/>
          </a:prstGeom>
        </p:spPr>
      </p:pic>
      <p:sp>
        <p:nvSpPr>
          <p:cNvPr id="7" name="Text 4"/>
          <p:cNvSpPr/>
          <p:nvPr/>
        </p:nvSpPr>
        <p:spPr>
          <a:xfrm>
            <a:off x="2119908" y="5353645"/>
            <a:ext cx="2270641" cy="619363"/>
          </a:xfrm>
          <a:prstGeom prst="rect">
            <a:avLst/>
          </a:prstGeom>
          <a:noFill/>
          <a:ln/>
        </p:spPr>
        <p:txBody>
          <a:bodyPr wrap="square" rtlCol="0" anchor="t"/>
          <a:lstStyle/>
          <a:p>
            <a:pPr marL="0" indent="0" algn="l">
              <a:lnSpc>
                <a:spcPts val="2438"/>
              </a:lnSpc>
              <a:buNone/>
            </a:pPr>
            <a:r>
              <a:rPr lang="en-US" sz="1951" b="1" kern="0" spc="-20" dirty="0">
                <a:solidFill>
                  <a:srgbClr val="FFFFFF"/>
                </a:solidFill>
                <a:latin typeface="Montserrat" pitchFamily="34" charset="0"/>
                <a:ea typeface="Montserrat" pitchFamily="34" charset="-122"/>
                <a:cs typeface="Montserrat" pitchFamily="34" charset="-120"/>
              </a:rPr>
              <a:t>Information Sharing</a:t>
            </a:r>
            <a:endParaRPr lang="en-US" sz="1951" dirty="0"/>
          </a:p>
        </p:txBody>
      </p:sp>
      <p:sp>
        <p:nvSpPr>
          <p:cNvPr id="8" name="Text 5"/>
          <p:cNvSpPr/>
          <p:nvPr/>
        </p:nvSpPr>
        <p:spPr>
          <a:xfrm>
            <a:off x="2119908" y="6103739"/>
            <a:ext cx="2270641" cy="1307783"/>
          </a:xfrm>
          <a:prstGeom prst="rect">
            <a:avLst/>
          </a:prstGeom>
          <a:noFill/>
          <a:ln/>
        </p:spPr>
        <p:txBody>
          <a:bodyPr wrap="square" rtlCol="0" anchor="t"/>
          <a:lstStyle/>
          <a:p>
            <a:pPr marL="0" indent="0" algn="l">
              <a:lnSpc>
                <a:spcPts val="2575"/>
              </a:lnSpc>
              <a:buNone/>
            </a:pPr>
            <a:r>
              <a:rPr lang="en-US" sz="1717" dirty="0">
                <a:solidFill>
                  <a:srgbClr val="E2E6E9"/>
                </a:solidFill>
                <a:latin typeface="Source Sans Pro" pitchFamily="34" charset="0"/>
                <a:ea typeface="Source Sans Pro" pitchFamily="34" charset="-122"/>
                <a:cs typeface="Source Sans Pro" pitchFamily="34" charset="-120"/>
              </a:rPr>
              <a:t>Users share news, opinions, and experiences on social platforms.</a:t>
            </a:r>
            <a:endParaRPr lang="en-US" sz="1717" dirty="0"/>
          </a:p>
        </p:txBody>
      </p:sp>
      <p:pic>
        <p:nvPicPr>
          <p:cNvPr id="9" name="Image 1" descr="preencoded.png"/>
          <p:cNvPicPr>
            <a:picLocks noChangeAspect="1"/>
          </p:cNvPicPr>
          <p:nvPr/>
        </p:nvPicPr>
        <p:blipFill>
          <a:blip r:embed="rId4"/>
          <a:stretch>
            <a:fillRect/>
          </a:stretch>
        </p:blipFill>
        <p:spPr>
          <a:xfrm>
            <a:off x="4608552" y="4154686"/>
            <a:ext cx="2706648" cy="872014"/>
          </a:xfrm>
          <a:prstGeom prst="rect">
            <a:avLst/>
          </a:prstGeom>
        </p:spPr>
      </p:pic>
      <p:sp>
        <p:nvSpPr>
          <p:cNvPr id="10" name="Text 6"/>
          <p:cNvSpPr/>
          <p:nvPr/>
        </p:nvSpPr>
        <p:spPr>
          <a:xfrm>
            <a:off x="4826556" y="5353645"/>
            <a:ext cx="2270641" cy="309682"/>
          </a:xfrm>
          <a:prstGeom prst="rect">
            <a:avLst/>
          </a:prstGeom>
          <a:noFill/>
          <a:ln/>
        </p:spPr>
        <p:txBody>
          <a:bodyPr wrap="none" rtlCol="0" anchor="t"/>
          <a:lstStyle/>
          <a:p>
            <a:pPr marL="0" indent="0" algn="l">
              <a:lnSpc>
                <a:spcPts val="2438"/>
              </a:lnSpc>
              <a:buNone/>
            </a:pPr>
            <a:r>
              <a:rPr lang="en-US" sz="1951" b="1" kern="0" spc="-20" dirty="0">
                <a:solidFill>
                  <a:srgbClr val="FFFFFF"/>
                </a:solidFill>
                <a:latin typeface="Montserrat" pitchFamily="34" charset="0"/>
                <a:ea typeface="Montserrat" pitchFamily="34" charset="-122"/>
                <a:cs typeface="Montserrat" pitchFamily="34" charset="-120"/>
              </a:rPr>
              <a:t>Amplification</a:t>
            </a:r>
            <a:endParaRPr lang="en-US" sz="1951" dirty="0"/>
          </a:p>
        </p:txBody>
      </p:sp>
      <p:sp>
        <p:nvSpPr>
          <p:cNvPr id="11" name="Text 7"/>
          <p:cNvSpPr/>
          <p:nvPr/>
        </p:nvSpPr>
        <p:spPr>
          <a:xfrm>
            <a:off x="4826556" y="5794058"/>
            <a:ext cx="2270641" cy="980837"/>
          </a:xfrm>
          <a:prstGeom prst="rect">
            <a:avLst/>
          </a:prstGeom>
          <a:noFill/>
          <a:ln/>
        </p:spPr>
        <p:txBody>
          <a:bodyPr wrap="square" rtlCol="0" anchor="t"/>
          <a:lstStyle/>
          <a:p>
            <a:pPr marL="0" indent="0" algn="l">
              <a:lnSpc>
                <a:spcPts val="2575"/>
              </a:lnSpc>
              <a:buNone/>
            </a:pPr>
            <a:r>
              <a:rPr lang="en-US" sz="1717" dirty="0">
                <a:solidFill>
                  <a:srgbClr val="E2E6E9"/>
                </a:solidFill>
                <a:latin typeface="Source Sans Pro" pitchFamily="34" charset="0"/>
                <a:ea typeface="Source Sans Pro" pitchFamily="34" charset="-122"/>
                <a:cs typeface="Source Sans Pro" pitchFamily="34" charset="-120"/>
              </a:rPr>
              <a:t>Content gains traction through likes, shares, and comments.</a:t>
            </a:r>
            <a:endParaRPr lang="en-US" sz="1717" dirty="0"/>
          </a:p>
        </p:txBody>
      </p:sp>
      <p:pic>
        <p:nvPicPr>
          <p:cNvPr id="12" name="Image 2" descr="preencoded.png"/>
          <p:cNvPicPr>
            <a:picLocks noChangeAspect="1"/>
          </p:cNvPicPr>
          <p:nvPr/>
        </p:nvPicPr>
        <p:blipFill>
          <a:blip r:embed="rId5"/>
          <a:stretch>
            <a:fillRect/>
          </a:stretch>
        </p:blipFill>
        <p:spPr>
          <a:xfrm>
            <a:off x="7315200" y="4154686"/>
            <a:ext cx="2706648" cy="872014"/>
          </a:xfrm>
          <a:prstGeom prst="rect">
            <a:avLst/>
          </a:prstGeom>
        </p:spPr>
      </p:pic>
      <p:sp>
        <p:nvSpPr>
          <p:cNvPr id="13" name="Text 8"/>
          <p:cNvSpPr/>
          <p:nvPr/>
        </p:nvSpPr>
        <p:spPr>
          <a:xfrm>
            <a:off x="7533203" y="5353645"/>
            <a:ext cx="2270641" cy="309682"/>
          </a:xfrm>
          <a:prstGeom prst="rect">
            <a:avLst/>
          </a:prstGeom>
          <a:noFill/>
          <a:ln/>
        </p:spPr>
        <p:txBody>
          <a:bodyPr wrap="none" rtlCol="0" anchor="t"/>
          <a:lstStyle/>
          <a:p>
            <a:pPr marL="0" indent="0" algn="l">
              <a:lnSpc>
                <a:spcPts val="2438"/>
              </a:lnSpc>
              <a:buNone/>
            </a:pPr>
            <a:r>
              <a:rPr lang="en-US" sz="1951" b="1" kern="0" spc="-20" dirty="0">
                <a:solidFill>
                  <a:srgbClr val="FFFFFF"/>
                </a:solidFill>
                <a:latin typeface="Montserrat" pitchFamily="34" charset="0"/>
                <a:ea typeface="Montserrat" pitchFamily="34" charset="-122"/>
                <a:cs typeface="Montserrat" pitchFamily="34" charset="-120"/>
              </a:rPr>
              <a:t>Echo Chambers</a:t>
            </a:r>
            <a:endParaRPr lang="en-US" sz="1951" dirty="0"/>
          </a:p>
        </p:txBody>
      </p:sp>
      <p:sp>
        <p:nvSpPr>
          <p:cNvPr id="14" name="Text 9"/>
          <p:cNvSpPr/>
          <p:nvPr/>
        </p:nvSpPr>
        <p:spPr>
          <a:xfrm>
            <a:off x="7533203" y="5794058"/>
            <a:ext cx="2270641" cy="980837"/>
          </a:xfrm>
          <a:prstGeom prst="rect">
            <a:avLst/>
          </a:prstGeom>
          <a:noFill/>
          <a:ln/>
        </p:spPr>
        <p:txBody>
          <a:bodyPr wrap="square" rtlCol="0" anchor="t"/>
          <a:lstStyle/>
          <a:p>
            <a:pPr marL="0" indent="0" algn="l">
              <a:lnSpc>
                <a:spcPts val="2575"/>
              </a:lnSpc>
              <a:buNone/>
            </a:pPr>
            <a:r>
              <a:rPr lang="en-US" sz="1717" dirty="0">
                <a:solidFill>
                  <a:srgbClr val="E2E6E9"/>
                </a:solidFill>
                <a:latin typeface="Source Sans Pro" pitchFamily="34" charset="0"/>
                <a:ea typeface="Source Sans Pro" pitchFamily="34" charset="-122"/>
                <a:cs typeface="Source Sans Pro" pitchFamily="34" charset="-120"/>
              </a:rPr>
              <a:t>Algorithms reinforce existing beliefs by showing similar content.</a:t>
            </a:r>
            <a:endParaRPr lang="en-US" sz="1717" dirty="0"/>
          </a:p>
        </p:txBody>
      </p:sp>
      <p:pic>
        <p:nvPicPr>
          <p:cNvPr id="15" name="Image 3" descr="preencoded.png"/>
          <p:cNvPicPr>
            <a:picLocks noChangeAspect="1"/>
          </p:cNvPicPr>
          <p:nvPr/>
        </p:nvPicPr>
        <p:blipFill>
          <a:blip r:embed="rId6"/>
          <a:stretch>
            <a:fillRect/>
          </a:stretch>
        </p:blipFill>
        <p:spPr>
          <a:xfrm>
            <a:off x="10021848" y="4154686"/>
            <a:ext cx="2706648" cy="872014"/>
          </a:xfrm>
          <a:prstGeom prst="rect">
            <a:avLst/>
          </a:prstGeom>
        </p:spPr>
      </p:pic>
      <p:sp>
        <p:nvSpPr>
          <p:cNvPr id="16" name="Text 10"/>
          <p:cNvSpPr/>
          <p:nvPr/>
        </p:nvSpPr>
        <p:spPr>
          <a:xfrm>
            <a:off x="10239851" y="5353645"/>
            <a:ext cx="2270641" cy="619363"/>
          </a:xfrm>
          <a:prstGeom prst="rect">
            <a:avLst/>
          </a:prstGeom>
          <a:noFill/>
          <a:ln/>
        </p:spPr>
        <p:txBody>
          <a:bodyPr wrap="square" rtlCol="0" anchor="t"/>
          <a:lstStyle/>
          <a:p>
            <a:pPr marL="0" indent="0" algn="l">
              <a:lnSpc>
                <a:spcPts val="2438"/>
              </a:lnSpc>
              <a:buNone/>
            </a:pPr>
            <a:r>
              <a:rPr lang="en-US" sz="1951" b="1" kern="0" spc="-20" dirty="0">
                <a:solidFill>
                  <a:srgbClr val="FFFFFF"/>
                </a:solidFill>
                <a:latin typeface="Montserrat" pitchFamily="34" charset="0"/>
                <a:ea typeface="Montserrat" pitchFamily="34" charset="-122"/>
                <a:cs typeface="Montserrat" pitchFamily="34" charset="-120"/>
              </a:rPr>
              <a:t>Opinion Formation</a:t>
            </a:r>
            <a:endParaRPr lang="en-US" sz="1951" dirty="0"/>
          </a:p>
        </p:txBody>
      </p:sp>
      <p:sp>
        <p:nvSpPr>
          <p:cNvPr id="17" name="Text 11"/>
          <p:cNvSpPr/>
          <p:nvPr/>
        </p:nvSpPr>
        <p:spPr>
          <a:xfrm>
            <a:off x="10239851" y="6103739"/>
            <a:ext cx="2270641" cy="980837"/>
          </a:xfrm>
          <a:prstGeom prst="rect">
            <a:avLst/>
          </a:prstGeom>
          <a:noFill/>
          <a:ln/>
        </p:spPr>
        <p:txBody>
          <a:bodyPr wrap="square" rtlCol="0" anchor="t"/>
          <a:lstStyle/>
          <a:p>
            <a:pPr marL="0" indent="0" algn="l">
              <a:lnSpc>
                <a:spcPts val="2575"/>
              </a:lnSpc>
              <a:buNone/>
            </a:pPr>
            <a:r>
              <a:rPr lang="en-US" sz="1717" dirty="0">
                <a:solidFill>
                  <a:srgbClr val="E2E6E9"/>
                </a:solidFill>
                <a:latin typeface="Source Sans Pro" pitchFamily="34" charset="0"/>
                <a:ea typeface="Source Sans Pro" pitchFamily="34" charset="-122"/>
                <a:cs typeface="Source Sans Pro" pitchFamily="34" charset="-120"/>
              </a:rPr>
              <a:t>Users form or modify views based on social media exposure.</a:t>
            </a:r>
            <a:endParaRPr lang="en-US" sz="171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185029" y="1179671"/>
            <a:ext cx="12260223" cy="1402794"/>
          </a:xfrm>
          <a:prstGeom prst="rect">
            <a:avLst/>
          </a:prstGeom>
          <a:noFill/>
          <a:ln/>
        </p:spPr>
        <p:txBody>
          <a:bodyPr wrap="square" rtlCol="0" anchor="t"/>
          <a:lstStyle/>
          <a:p>
            <a:pPr marL="0" indent="0">
              <a:lnSpc>
                <a:spcPts val="5523"/>
              </a:lnSpc>
              <a:buNone/>
            </a:pPr>
            <a:r>
              <a:rPr lang="en-US" sz="4418" b="1" kern="0" spc="-44" dirty="0">
                <a:solidFill>
                  <a:srgbClr val="FFFFFF"/>
                </a:solidFill>
                <a:latin typeface="Montserrat" pitchFamily="34" charset="0"/>
                <a:ea typeface="Montserrat" pitchFamily="34" charset="-122"/>
                <a:cs typeface="Montserrat" pitchFamily="34" charset="-120"/>
              </a:rPr>
              <a:t>Research Methodology: Data Collection and Analysis</a:t>
            </a:r>
            <a:endParaRPr lang="en-US" sz="4418" dirty="0"/>
          </a:p>
        </p:txBody>
      </p:sp>
      <p:sp>
        <p:nvSpPr>
          <p:cNvPr id="5" name="Text 3"/>
          <p:cNvSpPr/>
          <p:nvPr/>
        </p:nvSpPr>
        <p:spPr>
          <a:xfrm>
            <a:off x="1185029" y="3076218"/>
            <a:ext cx="12260223" cy="1481614"/>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To comprehensively study the impact of social media and technology, a mixed-methods approach is employed, combining both qualitative and quantitative research methods. Data collection methods include surveys, interviews, focus groups, and social media content analysis. This multi-faceted approach allows researchers to gather rich, diverse data on user experiences, behaviors, and attitudes towards social media and technology.</a:t>
            </a:r>
            <a:endParaRPr lang="en-US" sz="1944" dirty="0"/>
          </a:p>
        </p:txBody>
      </p:sp>
      <p:sp>
        <p:nvSpPr>
          <p:cNvPr id="6" name="Text 4"/>
          <p:cNvSpPr/>
          <p:nvPr/>
        </p:nvSpPr>
        <p:spPr>
          <a:xfrm>
            <a:off x="1185029" y="5082302"/>
            <a:ext cx="3155513"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Quantitative Methods</a:t>
            </a:r>
            <a:endParaRPr lang="en-US" sz="2209" dirty="0"/>
          </a:p>
        </p:txBody>
      </p:sp>
      <p:sp>
        <p:nvSpPr>
          <p:cNvPr id="7" name="Text 5"/>
          <p:cNvSpPr/>
          <p:nvPr/>
        </p:nvSpPr>
        <p:spPr>
          <a:xfrm>
            <a:off x="1579959" y="5679758"/>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Surveys</a:t>
            </a:r>
            <a:endParaRPr lang="en-US" sz="1944" dirty="0"/>
          </a:p>
        </p:txBody>
      </p:sp>
      <p:sp>
        <p:nvSpPr>
          <p:cNvPr id="8" name="Text 6"/>
          <p:cNvSpPr/>
          <p:nvPr/>
        </p:nvSpPr>
        <p:spPr>
          <a:xfrm>
            <a:off x="1579959" y="6136481"/>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Social media analytics</a:t>
            </a:r>
            <a:endParaRPr lang="en-US" sz="1944" dirty="0"/>
          </a:p>
        </p:txBody>
      </p:sp>
      <p:sp>
        <p:nvSpPr>
          <p:cNvPr id="9" name="Text 7"/>
          <p:cNvSpPr/>
          <p:nvPr/>
        </p:nvSpPr>
        <p:spPr>
          <a:xfrm>
            <a:off x="1579959" y="6593205"/>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Big data analysis</a:t>
            </a:r>
            <a:endParaRPr lang="en-US" sz="1944" dirty="0"/>
          </a:p>
        </p:txBody>
      </p:sp>
      <p:sp>
        <p:nvSpPr>
          <p:cNvPr id="10" name="Text 8"/>
          <p:cNvSpPr/>
          <p:nvPr/>
        </p:nvSpPr>
        <p:spPr>
          <a:xfrm>
            <a:off x="5479613" y="5082302"/>
            <a:ext cx="2927033"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Qualitative Methods</a:t>
            </a:r>
            <a:endParaRPr lang="en-US" sz="2209" dirty="0"/>
          </a:p>
        </p:txBody>
      </p:sp>
      <p:sp>
        <p:nvSpPr>
          <p:cNvPr id="11" name="Text 9"/>
          <p:cNvSpPr/>
          <p:nvPr/>
        </p:nvSpPr>
        <p:spPr>
          <a:xfrm>
            <a:off x="5874544" y="5679758"/>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Interviews</a:t>
            </a:r>
            <a:endParaRPr lang="en-US" sz="1944" dirty="0"/>
          </a:p>
        </p:txBody>
      </p:sp>
      <p:sp>
        <p:nvSpPr>
          <p:cNvPr id="12" name="Text 10"/>
          <p:cNvSpPr/>
          <p:nvPr/>
        </p:nvSpPr>
        <p:spPr>
          <a:xfrm>
            <a:off x="5874544" y="6136481"/>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Focus groups</a:t>
            </a:r>
            <a:endParaRPr lang="en-US" sz="1944" dirty="0"/>
          </a:p>
        </p:txBody>
      </p:sp>
      <p:sp>
        <p:nvSpPr>
          <p:cNvPr id="13" name="Text 11"/>
          <p:cNvSpPr/>
          <p:nvPr/>
        </p:nvSpPr>
        <p:spPr>
          <a:xfrm>
            <a:off x="5874544" y="6593205"/>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Content analysis</a:t>
            </a:r>
            <a:endParaRPr lang="en-US" sz="1944" dirty="0"/>
          </a:p>
        </p:txBody>
      </p:sp>
      <p:sp>
        <p:nvSpPr>
          <p:cNvPr id="14" name="Text 12"/>
          <p:cNvSpPr/>
          <p:nvPr/>
        </p:nvSpPr>
        <p:spPr>
          <a:xfrm>
            <a:off x="9774198" y="5082302"/>
            <a:ext cx="2805470"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Mixed Methods</a:t>
            </a:r>
            <a:endParaRPr lang="en-US" sz="2209" dirty="0"/>
          </a:p>
        </p:txBody>
      </p:sp>
      <p:sp>
        <p:nvSpPr>
          <p:cNvPr id="15" name="Text 13"/>
          <p:cNvSpPr/>
          <p:nvPr/>
        </p:nvSpPr>
        <p:spPr>
          <a:xfrm>
            <a:off x="10169128" y="5679758"/>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Triangulation</a:t>
            </a:r>
            <a:endParaRPr lang="en-US" sz="1944" dirty="0"/>
          </a:p>
        </p:txBody>
      </p:sp>
      <p:sp>
        <p:nvSpPr>
          <p:cNvPr id="16" name="Text 14"/>
          <p:cNvSpPr/>
          <p:nvPr/>
        </p:nvSpPr>
        <p:spPr>
          <a:xfrm>
            <a:off x="10169128" y="6136481"/>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Sequential explanatory design</a:t>
            </a:r>
            <a:endParaRPr lang="en-US" sz="1944" dirty="0"/>
          </a:p>
        </p:txBody>
      </p:sp>
      <p:sp>
        <p:nvSpPr>
          <p:cNvPr id="17" name="Text 15"/>
          <p:cNvSpPr/>
          <p:nvPr/>
        </p:nvSpPr>
        <p:spPr>
          <a:xfrm>
            <a:off x="10169128" y="6593205"/>
            <a:ext cx="3289816" cy="370403"/>
          </a:xfrm>
          <a:prstGeom prst="rect">
            <a:avLst/>
          </a:prstGeom>
          <a:noFill/>
          <a:ln/>
        </p:spPr>
        <p:txBody>
          <a:bodyPr wrap="none" rtlCol="0" anchor="t"/>
          <a:lstStyle/>
          <a:p>
            <a:pPr marL="342900" indent="-342900" algn="l">
              <a:lnSpc>
                <a:spcPts val="2916"/>
              </a:lnSpc>
              <a:buSzPct val="100000"/>
              <a:buChar char="•"/>
            </a:pPr>
            <a:r>
              <a:rPr lang="en-US" sz="1944" dirty="0">
                <a:solidFill>
                  <a:srgbClr val="E2E6E9"/>
                </a:solidFill>
                <a:latin typeface="Source Sans Pro" pitchFamily="34" charset="0"/>
                <a:ea typeface="Source Sans Pro" pitchFamily="34" charset="-122"/>
                <a:cs typeface="Source Sans Pro" pitchFamily="34" charset="-120"/>
              </a:rPr>
              <a:t>Concurrent nested design</a:t>
            </a:r>
            <a:endParaRPr lang="en-US" sz="194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185029" y="1040011"/>
            <a:ext cx="12230933" cy="701397"/>
          </a:xfrm>
          <a:prstGeom prst="rect">
            <a:avLst/>
          </a:prstGeom>
          <a:noFill/>
          <a:ln/>
        </p:spPr>
        <p:txBody>
          <a:bodyPr wrap="none" rtlCol="0" anchor="t"/>
          <a:lstStyle/>
          <a:p>
            <a:pPr marL="0" indent="0">
              <a:lnSpc>
                <a:spcPts val="5523"/>
              </a:lnSpc>
              <a:buNone/>
            </a:pPr>
            <a:r>
              <a:rPr lang="en-US" sz="4418" b="1" kern="0" spc="-44" dirty="0">
                <a:solidFill>
                  <a:srgbClr val="FFFFFF"/>
                </a:solidFill>
                <a:latin typeface="Montserrat" pitchFamily="34" charset="0"/>
                <a:ea typeface="Montserrat" pitchFamily="34" charset="-122"/>
                <a:cs typeface="Montserrat" pitchFamily="34" charset="-120"/>
              </a:rPr>
              <a:t>Types of Analysis in Social Media Research</a:t>
            </a:r>
            <a:endParaRPr lang="en-US" sz="4418" dirty="0"/>
          </a:p>
        </p:txBody>
      </p:sp>
      <p:sp>
        <p:nvSpPr>
          <p:cNvPr id="5" name="Text 3"/>
          <p:cNvSpPr/>
          <p:nvPr/>
        </p:nvSpPr>
        <p:spPr>
          <a:xfrm>
            <a:off x="1185029" y="2235160"/>
            <a:ext cx="12260223" cy="1481614"/>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Various analytical techniques are employed to extract meaningful insights from the collected data. These include statistical analysis, thematic analysis, network analysis, sentiment analysis, and comparative analysis. Each method offers unique perspectives on social media usage patterns, user behaviors, and the broader societal impacts of these technologies.</a:t>
            </a:r>
            <a:endParaRPr lang="en-US" sz="1944" dirty="0"/>
          </a:p>
        </p:txBody>
      </p:sp>
      <p:pic>
        <p:nvPicPr>
          <p:cNvPr id="6" name="Image 0" descr="preencoded.png"/>
          <p:cNvPicPr>
            <a:picLocks noChangeAspect="1"/>
          </p:cNvPicPr>
          <p:nvPr/>
        </p:nvPicPr>
        <p:blipFill>
          <a:blip r:embed="rId3"/>
          <a:stretch>
            <a:fillRect/>
          </a:stretch>
        </p:blipFill>
        <p:spPr>
          <a:xfrm>
            <a:off x="1185029" y="3994428"/>
            <a:ext cx="617220" cy="617220"/>
          </a:xfrm>
          <a:prstGeom prst="rect">
            <a:avLst/>
          </a:prstGeom>
        </p:spPr>
      </p:pic>
      <p:sp>
        <p:nvSpPr>
          <p:cNvPr id="7" name="Text 4"/>
          <p:cNvSpPr/>
          <p:nvPr/>
        </p:nvSpPr>
        <p:spPr>
          <a:xfrm>
            <a:off x="1185029" y="4858464"/>
            <a:ext cx="2787253" cy="350639"/>
          </a:xfrm>
          <a:prstGeom prst="rect">
            <a:avLst/>
          </a:prstGeom>
          <a:noFill/>
          <a:ln/>
        </p:spPr>
        <p:txBody>
          <a:bodyPr wrap="none" rtlCol="0" anchor="t"/>
          <a:lstStyle/>
          <a:p>
            <a:pPr marL="0" indent="0" algn="l">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Statistical Analysis</a:t>
            </a:r>
            <a:endParaRPr lang="en-US" sz="2209" dirty="0"/>
          </a:p>
        </p:txBody>
      </p:sp>
      <p:sp>
        <p:nvSpPr>
          <p:cNvPr id="8" name="Text 5"/>
          <p:cNvSpPr/>
          <p:nvPr/>
        </p:nvSpPr>
        <p:spPr>
          <a:xfrm>
            <a:off x="1185029" y="5357217"/>
            <a:ext cx="2787253" cy="1111210"/>
          </a:xfrm>
          <a:prstGeom prst="rect">
            <a:avLst/>
          </a:prstGeom>
          <a:noFill/>
          <a:ln/>
        </p:spPr>
        <p:txBody>
          <a:bodyPr wrap="square" rtlCol="0" anchor="t"/>
          <a:lstStyle/>
          <a:p>
            <a:pPr marL="0" indent="0" algn="l">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Using tools like SPSS and R for descriptive and inferential statistics.</a:t>
            </a:r>
            <a:endParaRPr lang="en-US" sz="1944" dirty="0"/>
          </a:p>
        </p:txBody>
      </p:sp>
      <p:pic>
        <p:nvPicPr>
          <p:cNvPr id="9" name="Image 1" descr="preencoded.png"/>
          <p:cNvPicPr>
            <a:picLocks noChangeAspect="1"/>
          </p:cNvPicPr>
          <p:nvPr/>
        </p:nvPicPr>
        <p:blipFill>
          <a:blip r:embed="rId4"/>
          <a:stretch>
            <a:fillRect/>
          </a:stretch>
        </p:blipFill>
        <p:spPr>
          <a:xfrm>
            <a:off x="4342567" y="3994428"/>
            <a:ext cx="617220" cy="617220"/>
          </a:xfrm>
          <a:prstGeom prst="rect">
            <a:avLst/>
          </a:prstGeom>
        </p:spPr>
      </p:pic>
      <p:sp>
        <p:nvSpPr>
          <p:cNvPr id="10" name="Text 6"/>
          <p:cNvSpPr/>
          <p:nvPr/>
        </p:nvSpPr>
        <p:spPr>
          <a:xfrm>
            <a:off x="4342567" y="4858464"/>
            <a:ext cx="2787372" cy="350639"/>
          </a:xfrm>
          <a:prstGeom prst="rect">
            <a:avLst/>
          </a:prstGeom>
          <a:noFill/>
          <a:ln/>
        </p:spPr>
        <p:txBody>
          <a:bodyPr wrap="none" rtlCol="0" anchor="t"/>
          <a:lstStyle/>
          <a:p>
            <a:pPr marL="0" indent="0" algn="l">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Network Analysis</a:t>
            </a:r>
            <a:endParaRPr lang="en-US" sz="2209" dirty="0"/>
          </a:p>
        </p:txBody>
      </p:sp>
      <p:sp>
        <p:nvSpPr>
          <p:cNvPr id="11" name="Text 7"/>
          <p:cNvSpPr/>
          <p:nvPr/>
        </p:nvSpPr>
        <p:spPr>
          <a:xfrm>
            <a:off x="4342567" y="5357217"/>
            <a:ext cx="2787372" cy="1111210"/>
          </a:xfrm>
          <a:prstGeom prst="rect">
            <a:avLst/>
          </a:prstGeom>
          <a:noFill/>
          <a:ln/>
        </p:spPr>
        <p:txBody>
          <a:bodyPr wrap="square" rtlCol="0" anchor="t"/>
          <a:lstStyle/>
          <a:p>
            <a:pPr marL="0" indent="0" algn="l">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Studying social connections and influence patterns within platforms.</a:t>
            </a:r>
            <a:endParaRPr lang="en-US" sz="1944" dirty="0"/>
          </a:p>
        </p:txBody>
      </p:sp>
      <p:pic>
        <p:nvPicPr>
          <p:cNvPr id="12" name="Image 2" descr="preencoded.png"/>
          <p:cNvPicPr>
            <a:picLocks noChangeAspect="1"/>
          </p:cNvPicPr>
          <p:nvPr/>
        </p:nvPicPr>
        <p:blipFill>
          <a:blip r:embed="rId5"/>
          <a:stretch>
            <a:fillRect/>
          </a:stretch>
        </p:blipFill>
        <p:spPr>
          <a:xfrm>
            <a:off x="7500223" y="3994428"/>
            <a:ext cx="617220" cy="617220"/>
          </a:xfrm>
          <a:prstGeom prst="rect">
            <a:avLst/>
          </a:prstGeom>
        </p:spPr>
      </p:pic>
      <p:sp>
        <p:nvSpPr>
          <p:cNvPr id="13" name="Text 8"/>
          <p:cNvSpPr/>
          <p:nvPr/>
        </p:nvSpPr>
        <p:spPr>
          <a:xfrm>
            <a:off x="7500223" y="4858464"/>
            <a:ext cx="2787372" cy="350639"/>
          </a:xfrm>
          <a:prstGeom prst="rect">
            <a:avLst/>
          </a:prstGeom>
          <a:noFill/>
          <a:ln/>
        </p:spPr>
        <p:txBody>
          <a:bodyPr wrap="none" rtlCol="0" anchor="t"/>
          <a:lstStyle/>
          <a:p>
            <a:pPr marL="0" indent="0" algn="l">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Sentiment Analysis</a:t>
            </a:r>
            <a:endParaRPr lang="en-US" sz="2209" dirty="0"/>
          </a:p>
        </p:txBody>
      </p:sp>
      <p:sp>
        <p:nvSpPr>
          <p:cNvPr id="14" name="Text 9"/>
          <p:cNvSpPr/>
          <p:nvPr/>
        </p:nvSpPr>
        <p:spPr>
          <a:xfrm>
            <a:off x="7500223" y="5357217"/>
            <a:ext cx="2787372" cy="1111210"/>
          </a:xfrm>
          <a:prstGeom prst="rect">
            <a:avLst/>
          </a:prstGeom>
          <a:noFill/>
          <a:ln/>
        </p:spPr>
        <p:txBody>
          <a:bodyPr wrap="square" rtlCol="0" anchor="t"/>
          <a:lstStyle/>
          <a:p>
            <a:pPr marL="0" indent="0" algn="l">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Gauging public sentiment and emotional tone in social media content.</a:t>
            </a:r>
            <a:endParaRPr lang="en-US" sz="1944" dirty="0"/>
          </a:p>
        </p:txBody>
      </p:sp>
      <p:pic>
        <p:nvPicPr>
          <p:cNvPr id="15" name="Image 3" descr="preencoded.png"/>
          <p:cNvPicPr>
            <a:picLocks noChangeAspect="1"/>
          </p:cNvPicPr>
          <p:nvPr/>
        </p:nvPicPr>
        <p:blipFill>
          <a:blip r:embed="rId6"/>
          <a:stretch>
            <a:fillRect/>
          </a:stretch>
        </p:blipFill>
        <p:spPr>
          <a:xfrm>
            <a:off x="10657880" y="3994428"/>
            <a:ext cx="617220" cy="617220"/>
          </a:xfrm>
          <a:prstGeom prst="rect">
            <a:avLst/>
          </a:prstGeom>
        </p:spPr>
      </p:pic>
      <p:sp>
        <p:nvSpPr>
          <p:cNvPr id="16" name="Text 10"/>
          <p:cNvSpPr/>
          <p:nvPr/>
        </p:nvSpPr>
        <p:spPr>
          <a:xfrm>
            <a:off x="10657880" y="4858464"/>
            <a:ext cx="2787372" cy="701278"/>
          </a:xfrm>
          <a:prstGeom prst="rect">
            <a:avLst/>
          </a:prstGeom>
          <a:noFill/>
          <a:ln/>
        </p:spPr>
        <p:txBody>
          <a:bodyPr wrap="square" rtlCol="0" anchor="t"/>
          <a:lstStyle/>
          <a:p>
            <a:pPr marL="0" indent="0" algn="l">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Comparative Analysis</a:t>
            </a:r>
            <a:endParaRPr lang="en-US" sz="2209" dirty="0"/>
          </a:p>
        </p:txBody>
      </p:sp>
      <p:sp>
        <p:nvSpPr>
          <p:cNvPr id="17" name="Text 11"/>
          <p:cNvSpPr/>
          <p:nvPr/>
        </p:nvSpPr>
        <p:spPr>
          <a:xfrm>
            <a:off x="10657880" y="5707856"/>
            <a:ext cx="2787372" cy="1481614"/>
          </a:xfrm>
          <a:prstGeom prst="rect">
            <a:avLst/>
          </a:prstGeom>
          <a:noFill/>
          <a:ln/>
        </p:spPr>
        <p:txBody>
          <a:bodyPr wrap="square" rtlCol="0" anchor="t"/>
          <a:lstStyle/>
          <a:p>
            <a:pPr marL="0" indent="0" algn="l">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Identifying changes and differences in social media usage over time or between groups.</a:t>
            </a:r>
            <a:endParaRPr lang="en-US" sz="194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307425" y="666393"/>
            <a:ext cx="11092815" cy="687348"/>
          </a:xfrm>
          <a:prstGeom prst="rect">
            <a:avLst/>
          </a:prstGeom>
          <a:noFill/>
          <a:ln/>
        </p:spPr>
        <p:txBody>
          <a:bodyPr wrap="none" rtlCol="0" anchor="t"/>
          <a:lstStyle/>
          <a:p>
            <a:pPr marL="0" indent="0">
              <a:lnSpc>
                <a:spcPts val="5412"/>
              </a:lnSpc>
              <a:buNone/>
            </a:pPr>
            <a:r>
              <a:rPr lang="en-US" sz="4330" b="1" kern="0" spc="-43" dirty="0">
                <a:solidFill>
                  <a:srgbClr val="FFFFFF"/>
                </a:solidFill>
                <a:latin typeface="Montserrat" pitchFamily="34" charset="0"/>
                <a:ea typeface="Montserrat" pitchFamily="34" charset="-122"/>
                <a:cs typeface="Montserrat" pitchFamily="34" charset="-120"/>
              </a:rPr>
              <a:t>Impact of Social Media and Technology</a:t>
            </a:r>
            <a:endParaRPr lang="en-US" sz="4330" dirty="0"/>
          </a:p>
        </p:txBody>
      </p:sp>
      <p:sp>
        <p:nvSpPr>
          <p:cNvPr id="5" name="Text 3"/>
          <p:cNvSpPr/>
          <p:nvPr/>
        </p:nvSpPr>
        <p:spPr>
          <a:xfrm>
            <a:off x="1307425" y="1837611"/>
            <a:ext cx="12015430" cy="1814513"/>
          </a:xfrm>
          <a:prstGeom prst="rect">
            <a:avLst/>
          </a:prstGeom>
          <a:noFill/>
          <a:ln/>
        </p:spPr>
        <p:txBody>
          <a:bodyPr wrap="square" rtlCol="0" anchor="t"/>
          <a:lstStyle/>
          <a:p>
            <a:pPr marL="0" indent="0">
              <a:lnSpc>
                <a:spcPts val="2858"/>
              </a:lnSpc>
              <a:buNone/>
            </a:pPr>
            <a:r>
              <a:rPr lang="en-US" sz="1905" dirty="0">
                <a:solidFill>
                  <a:srgbClr val="E2E6E9"/>
                </a:solidFill>
                <a:latin typeface="Source Sans Pro" pitchFamily="34" charset="0"/>
                <a:ea typeface="Source Sans Pro" pitchFamily="34" charset="-122"/>
                <a:cs typeface="Source Sans Pro" pitchFamily="34" charset="-120"/>
              </a:rPr>
              <a:t>The interplay between social media and technology has reshaped various aspects of modern life, influencing how individuals interact, share information, form opinions, and perceive themselves. These platforms have become powerful tools for education, business, and social movements, driving innovation and societal change. However, they also present challenges such as data privacy concerns, misinformation spread, and potential negative psychological impacts.</a:t>
            </a:r>
            <a:endParaRPr lang="en-US" sz="1905" dirty="0"/>
          </a:p>
        </p:txBody>
      </p:sp>
      <p:sp>
        <p:nvSpPr>
          <p:cNvPr id="6" name="Shape 4"/>
          <p:cNvSpPr/>
          <p:nvPr/>
        </p:nvSpPr>
        <p:spPr>
          <a:xfrm>
            <a:off x="1307425" y="3924300"/>
            <a:ext cx="5886807" cy="1698427"/>
          </a:xfrm>
          <a:prstGeom prst="roundRect">
            <a:avLst>
              <a:gd name="adj" fmla="val 4274"/>
            </a:avLst>
          </a:prstGeom>
          <a:solidFill>
            <a:srgbClr val="232629"/>
          </a:solidFill>
          <a:ln/>
        </p:spPr>
      </p:sp>
      <p:sp>
        <p:nvSpPr>
          <p:cNvPr id="7" name="Text 5"/>
          <p:cNvSpPr/>
          <p:nvPr/>
        </p:nvSpPr>
        <p:spPr>
          <a:xfrm>
            <a:off x="1549360" y="4166235"/>
            <a:ext cx="2766298" cy="343614"/>
          </a:xfrm>
          <a:prstGeom prst="rect">
            <a:avLst/>
          </a:prstGeom>
          <a:noFill/>
          <a:ln/>
        </p:spPr>
        <p:txBody>
          <a:bodyPr wrap="none" rtlCol="0" anchor="t"/>
          <a:lstStyle/>
          <a:p>
            <a:pPr marL="0" indent="0">
              <a:lnSpc>
                <a:spcPts val="2706"/>
              </a:lnSpc>
              <a:buNone/>
            </a:pPr>
            <a:r>
              <a:rPr lang="en-US" sz="2165" b="1" kern="0" spc="-22" dirty="0">
                <a:solidFill>
                  <a:srgbClr val="FFFFFF"/>
                </a:solidFill>
                <a:latin typeface="Montserrat" pitchFamily="34" charset="0"/>
                <a:ea typeface="Montserrat" pitchFamily="34" charset="-122"/>
                <a:cs typeface="Montserrat" pitchFamily="34" charset="-120"/>
              </a:rPr>
              <a:t>Global Connectivity</a:t>
            </a:r>
            <a:endParaRPr lang="en-US" sz="2165" dirty="0"/>
          </a:p>
        </p:txBody>
      </p:sp>
      <p:sp>
        <p:nvSpPr>
          <p:cNvPr id="8" name="Text 6"/>
          <p:cNvSpPr/>
          <p:nvPr/>
        </p:nvSpPr>
        <p:spPr>
          <a:xfrm>
            <a:off x="1549360" y="4654987"/>
            <a:ext cx="5402937" cy="725805"/>
          </a:xfrm>
          <a:prstGeom prst="rect">
            <a:avLst/>
          </a:prstGeom>
          <a:noFill/>
          <a:ln/>
        </p:spPr>
        <p:txBody>
          <a:bodyPr wrap="square" rtlCol="0" anchor="t"/>
          <a:lstStyle/>
          <a:p>
            <a:pPr marL="0" indent="0">
              <a:lnSpc>
                <a:spcPts val="2858"/>
              </a:lnSpc>
              <a:buNone/>
            </a:pPr>
            <a:r>
              <a:rPr lang="en-US" sz="1905" dirty="0">
                <a:solidFill>
                  <a:srgbClr val="E2E6E9"/>
                </a:solidFill>
                <a:latin typeface="Source Sans Pro" pitchFamily="34" charset="0"/>
                <a:ea typeface="Source Sans Pro" pitchFamily="34" charset="-122"/>
                <a:cs typeface="Source Sans Pro" pitchFamily="34" charset="-120"/>
              </a:rPr>
              <a:t>Facilitating relationships and connections across distances.</a:t>
            </a:r>
            <a:endParaRPr lang="en-US" sz="1905" dirty="0"/>
          </a:p>
        </p:txBody>
      </p:sp>
      <p:sp>
        <p:nvSpPr>
          <p:cNvPr id="9" name="Shape 7"/>
          <p:cNvSpPr/>
          <p:nvPr/>
        </p:nvSpPr>
        <p:spPr>
          <a:xfrm>
            <a:off x="7436168" y="3924300"/>
            <a:ext cx="5886807" cy="1698427"/>
          </a:xfrm>
          <a:prstGeom prst="roundRect">
            <a:avLst>
              <a:gd name="adj" fmla="val 4274"/>
            </a:avLst>
          </a:prstGeom>
          <a:solidFill>
            <a:srgbClr val="232629"/>
          </a:solidFill>
          <a:ln/>
        </p:spPr>
      </p:sp>
      <p:sp>
        <p:nvSpPr>
          <p:cNvPr id="10" name="Text 8"/>
          <p:cNvSpPr/>
          <p:nvPr/>
        </p:nvSpPr>
        <p:spPr>
          <a:xfrm>
            <a:off x="7678103" y="4166235"/>
            <a:ext cx="2749510" cy="343614"/>
          </a:xfrm>
          <a:prstGeom prst="rect">
            <a:avLst/>
          </a:prstGeom>
          <a:noFill/>
          <a:ln/>
        </p:spPr>
        <p:txBody>
          <a:bodyPr wrap="none" rtlCol="0" anchor="t"/>
          <a:lstStyle/>
          <a:p>
            <a:pPr marL="0" indent="0">
              <a:lnSpc>
                <a:spcPts val="2706"/>
              </a:lnSpc>
              <a:buNone/>
            </a:pPr>
            <a:r>
              <a:rPr lang="en-US" sz="2165" b="1" kern="0" spc="-22" dirty="0">
                <a:solidFill>
                  <a:srgbClr val="FFFFFF"/>
                </a:solidFill>
                <a:latin typeface="Montserrat" pitchFamily="34" charset="0"/>
                <a:ea typeface="Montserrat" pitchFamily="34" charset="-122"/>
                <a:cs typeface="Montserrat" pitchFamily="34" charset="-120"/>
              </a:rPr>
              <a:t>Information Access</a:t>
            </a:r>
            <a:endParaRPr lang="en-US" sz="2165" dirty="0"/>
          </a:p>
        </p:txBody>
      </p:sp>
      <p:sp>
        <p:nvSpPr>
          <p:cNvPr id="11" name="Text 9"/>
          <p:cNvSpPr/>
          <p:nvPr/>
        </p:nvSpPr>
        <p:spPr>
          <a:xfrm>
            <a:off x="7678103" y="4654987"/>
            <a:ext cx="5402937" cy="725805"/>
          </a:xfrm>
          <a:prstGeom prst="rect">
            <a:avLst/>
          </a:prstGeom>
          <a:noFill/>
          <a:ln/>
        </p:spPr>
        <p:txBody>
          <a:bodyPr wrap="square" rtlCol="0" anchor="t"/>
          <a:lstStyle/>
          <a:p>
            <a:pPr marL="0" indent="0">
              <a:lnSpc>
                <a:spcPts val="2858"/>
              </a:lnSpc>
              <a:buNone/>
            </a:pPr>
            <a:r>
              <a:rPr lang="en-US" sz="1905" dirty="0">
                <a:solidFill>
                  <a:srgbClr val="E2E6E9"/>
                </a:solidFill>
                <a:latin typeface="Source Sans Pro" pitchFamily="34" charset="0"/>
                <a:ea typeface="Source Sans Pro" pitchFamily="34" charset="-122"/>
                <a:cs typeface="Source Sans Pro" pitchFamily="34" charset="-120"/>
              </a:rPr>
              <a:t>Democratizing knowledge and enabling rapid information sharing.</a:t>
            </a:r>
            <a:endParaRPr lang="en-US" sz="1905" dirty="0"/>
          </a:p>
        </p:txBody>
      </p:sp>
      <p:sp>
        <p:nvSpPr>
          <p:cNvPr id="12" name="Shape 10"/>
          <p:cNvSpPr/>
          <p:nvPr/>
        </p:nvSpPr>
        <p:spPr>
          <a:xfrm>
            <a:off x="1307425" y="5864662"/>
            <a:ext cx="5886807" cy="1698427"/>
          </a:xfrm>
          <a:prstGeom prst="roundRect">
            <a:avLst>
              <a:gd name="adj" fmla="val 4274"/>
            </a:avLst>
          </a:prstGeom>
          <a:solidFill>
            <a:srgbClr val="232629"/>
          </a:solidFill>
          <a:ln/>
        </p:spPr>
      </p:sp>
      <p:sp>
        <p:nvSpPr>
          <p:cNvPr id="13" name="Text 11"/>
          <p:cNvSpPr/>
          <p:nvPr/>
        </p:nvSpPr>
        <p:spPr>
          <a:xfrm>
            <a:off x="1549360" y="6106597"/>
            <a:ext cx="3318867" cy="343614"/>
          </a:xfrm>
          <a:prstGeom prst="rect">
            <a:avLst/>
          </a:prstGeom>
          <a:noFill/>
          <a:ln/>
        </p:spPr>
        <p:txBody>
          <a:bodyPr wrap="none" rtlCol="0" anchor="t"/>
          <a:lstStyle/>
          <a:p>
            <a:pPr marL="0" indent="0">
              <a:lnSpc>
                <a:spcPts val="2706"/>
              </a:lnSpc>
              <a:buNone/>
            </a:pPr>
            <a:r>
              <a:rPr lang="en-US" sz="2165" b="1" kern="0" spc="-22" dirty="0">
                <a:solidFill>
                  <a:srgbClr val="FFFFFF"/>
                </a:solidFill>
                <a:latin typeface="Montserrat" pitchFamily="34" charset="0"/>
                <a:ea typeface="Montserrat" pitchFamily="34" charset="-122"/>
                <a:cs typeface="Montserrat" pitchFamily="34" charset="-120"/>
              </a:rPr>
              <a:t>Business Opportunities</a:t>
            </a:r>
            <a:endParaRPr lang="en-US" sz="2165" dirty="0"/>
          </a:p>
        </p:txBody>
      </p:sp>
      <p:sp>
        <p:nvSpPr>
          <p:cNvPr id="14" name="Text 12"/>
          <p:cNvSpPr/>
          <p:nvPr/>
        </p:nvSpPr>
        <p:spPr>
          <a:xfrm>
            <a:off x="1549360" y="6595348"/>
            <a:ext cx="5402937" cy="725805"/>
          </a:xfrm>
          <a:prstGeom prst="rect">
            <a:avLst/>
          </a:prstGeom>
          <a:noFill/>
          <a:ln/>
        </p:spPr>
        <p:txBody>
          <a:bodyPr wrap="square" rtlCol="0" anchor="t"/>
          <a:lstStyle/>
          <a:p>
            <a:pPr marL="0" indent="0">
              <a:lnSpc>
                <a:spcPts val="2858"/>
              </a:lnSpc>
              <a:buNone/>
            </a:pPr>
            <a:r>
              <a:rPr lang="en-US" sz="1905" dirty="0">
                <a:solidFill>
                  <a:srgbClr val="E2E6E9"/>
                </a:solidFill>
                <a:latin typeface="Source Sans Pro" pitchFamily="34" charset="0"/>
                <a:ea typeface="Source Sans Pro" pitchFamily="34" charset="-122"/>
                <a:cs typeface="Source Sans Pro" pitchFamily="34" charset="-120"/>
              </a:rPr>
              <a:t>Enhancing marketing, customer engagement, and e-commerce.</a:t>
            </a:r>
            <a:endParaRPr lang="en-US" sz="1905" dirty="0"/>
          </a:p>
        </p:txBody>
      </p:sp>
      <p:sp>
        <p:nvSpPr>
          <p:cNvPr id="15" name="Shape 13"/>
          <p:cNvSpPr/>
          <p:nvPr/>
        </p:nvSpPr>
        <p:spPr>
          <a:xfrm>
            <a:off x="7436168" y="5864662"/>
            <a:ext cx="5886807" cy="1698427"/>
          </a:xfrm>
          <a:prstGeom prst="roundRect">
            <a:avLst>
              <a:gd name="adj" fmla="val 4274"/>
            </a:avLst>
          </a:prstGeom>
          <a:solidFill>
            <a:srgbClr val="232629"/>
          </a:solidFill>
          <a:ln/>
        </p:spPr>
      </p:sp>
      <p:sp>
        <p:nvSpPr>
          <p:cNvPr id="16" name="Text 14"/>
          <p:cNvSpPr/>
          <p:nvPr/>
        </p:nvSpPr>
        <p:spPr>
          <a:xfrm>
            <a:off x="7678103" y="6106597"/>
            <a:ext cx="3412093" cy="343614"/>
          </a:xfrm>
          <a:prstGeom prst="rect">
            <a:avLst/>
          </a:prstGeom>
          <a:noFill/>
          <a:ln/>
        </p:spPr>
        <p:txBody>
          <a:bodyPr wrap="none" rtlCol="0" anchor="t"/>
          <a:lstStyle/>
          <a:p>
            <a:pPr marL="0" indent="0">
              <a:lnSpc>
                <a:spcPts val="2706"/>
              </a:lnSpc>
              <a:buNone/>
            </a:pPr>
            <a:r>
              <a:rPr lang="en-US" sz="2165" b="1" kern="0" spc="-22" dirty="0">
                <a:solidFill>
                  <a:srgbClr val="FFFFFF"/>
                </a:solidFill>
                <a:latin typeface="Montserrat" pitchFamily="34" charset="0"/>
                <a:ea typeface="Montserrat" pitchFamily="34" charset="-122"/>
                <a:cs typeface="Montserrat" pitchFamily="34" charset="-120"/>
              </a:rPr>
              <a:t>Mental Health Concerns</a:t>
            </a:r>
            <a:endParaRPr lang="en-US" sz="2165" dirty="0"/>
          </a:p>
        </p:txBody>
      </p:sp>
      <p:sp>
        <p:nvSpPr>
          <p:cNvPr id="17" name="Text 15"/>
          <p:cNvSpPr/>
          <p:nvPr/>
        </p:nvSpPr>
        <p:spPr>
          <a:xfrm>
            <a:off x="7678103" y="6595348"/>
            <a:ext cx="5402937" cy="725805"/>
          </a:xfrm>
          <a:prstGeom prst="rect">
            <a:avLst/>
          </a:prstGeom>
          <a:noFill/>
          <a:ln/>
        </p:spPr>
        <p:txBody>
          <a:bodyPr wrap="square" rtlCol="0" anchor="t"/>
          <a:lstStyle/>
          <a:p>
            <a:pPr marL="0" indent="0">
              <a:lnSpc>
                <a:spcPts val="2858"/>
              </a:lnSpc>
              <a:buNone/>
            </a:pPr>
            <a:r>
              <a:rPr lang="en-US" sz="1905" dirty="0">
                <a:solidFill>
                  <a:srgbClr val="E2E6E9"/>
                </a:solidFill>
                <a:latin typeface="Source Sans Pro" pitchFamily="34" charset="0"/>
                <a:ea typeface="Source Sans Pro" pitchFamily="34" charset="-122"/>
                <a:cs typeface="Source Sans Pro" pitchFamily="34" charset="-120"/>
              </a:rPr>
              <a:t>Potential links to anxiety, depression, and addiction in some users.</a:t>
            </a:r>
            <a:endParaRPr lang="en-US" sz="190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185029" y="811768"/>
            <a:ext cx="9673709" cy="701397"/>
          </a:xfrm>
          <a:prstGeom prst="rect">
            <a:avLst/>
          </a:prstGeom>
          <a:noFill/>
          <a:ln/>
        </p:spPr>
        <p:txBody>
          <a:bodyPr wrap="none" rtlCol="0" anchor="t"/>
          <a:lstStyle/>
          <a:p>
            <a:pPr marL="0" indent="0">
              <a:lnSpc>
                <a:spcPts val="5523"/>
              </a:lnSpc>
              <a:buNone/>
            </a:pPr>
            <a:r>
              <a:rPr lang="en-US" sz="4418" b="1" kern="0" spc="-44" dirty="0">
                <a:solidFill>
                  <a:srgbClr val="FFFFFF"/>
                </a:solidFill>
                <a:latin typeface="Montserrat" pitchFamily="34" charset="0"/>
                <a:ea typeface="Montserrat" pitchFamily="34" charset="-122"/>
                <a:cs typeface="Montserrat" pitchFamily="34" charset="-120"/>
              </a:rPr>
              <a:t>Challenges and Future Directions</a:t>
            </a:r>
            <a:endParaRPr lang="en-US" sz="4418" dirty="0"/>
          </a:p>
        </p:txBody>
      </p:sp>
      <p:sp>
        <p:nvSpPr>
          <p:cNvPr id="5" name="Text 3"/>
          <p:cNvSpPr/>
          <p:nvPr/>
        </p:nvSpPr>
        <p:spPr>
          <a:xfrm>
            <a:off x="1185029" y="2006917"/>
            <a:ext cx="12260223" cy="185201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Addressing the challenges posed by social media and technology requires a multi-faceted approach. Key areas of focus include educating users on ethical use and data privacy, implementing stronger security measures, developing interventions for negative psychological impacts, and designing algorithms that promote diverse perspectives. Future research and development should prioritize user well-being, privacy protection, and the creation of more inclusive digital environments.</a:t>
            </a:r>
            <a:endParaRPr lang="en-US" sz="1944" dirty="0"/>
          </a:p>
        </p:txBody>
      </p:sp>
      <p:sp>
        <p:nvSpPr>
          <p:cNvPr id="6" name="Shape 4"/>
          <p:cNvSpPr/>
          <p:nvPr/>
        </p:nvSpPr>
        <p:spPr>
          <a:xfrm>
            <a:off x="1185029" y="4414242"/>
            <a:ext cx="555427" cy="555427"/>
          </a:xfrm>
          <a:prstGeom prst="roundRect">
            <a:avLst>
              <a:gd name="adj" fmla="val 13335"/>
            </a:avLst>
          </a:prstGeom>
          <a:solidFill>
            <a:srgbClr val="232629"/>
          </a:solidFill>
          <a:ln/>
        </p:spPr>
      </p:sp>
      <p:sp>
        <p:nvSpPr>
          <p:cNvPr id="7" name="Text 5"/>
          <p:cNvSpPr/>
          <p:nvPr/>
        </p:nvSpPr>
        <p:spPr>
          <a:xfrm>
            <a:off x="1398389" y="4523542"/>
            <a:ext cx="128588" cy="336709"/>
          </a:xfrm>
          <a:prstGeom prst="rect">
            <a:avLst/>
          </a:prstGeom>
          <a:noFill/>
          <a:ln/>
        </p:spPr>
        <p:txBody>
          <a:bodyPr wrap="none" rtlCol="0" anchor="t"/>
          <a:lstStyle/>
          <a:p>
            <a:pPr marL="0" indent="0" algn="ctr">
              <a:lnSpc>
                <a:spcPts val="2651"/>
              </a:lnSpc>
              <a:buNone/>
            </a:pPr>
            <a:r>
              <a:rPr lang="en-US" sz="2651" b="1" kern="0" spc="-27" dirty="0">
                <a:solidFill>
                  <a:srgbClr val="FFFFFF"/>
                </a:solidFill>
                <a:latin typeface="Montserrat" pitchFamily="34" charset="0"/>
                <a:ea typeface="Montserrat" pitchFamily="34" charset="-122"/>
                <a:cs typeface="Montserrat" pitchFamily="34" charset="-120"/>
              </a:rPr>
              <a:t>1</a:t>
            </a:r>
            <a:endParaRPr lang="en-US" sz="2651" dirty="0"/>
          </a:p>
        </p:txBody>
      </p:sp>
      <p:sp>
        <p:nvSpPr>
          <p:cNvPr id="8" name="Text 6"/>
          <p:cNvSpPr/>
          <p:nvPr/>
        </p:nvSpPr>
        <p:spPr>
          <a:xfrm>
            <a:off x="1987272" y="4414242"/>
            <a:ext cx="3721060"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Digital Literacy Education</a:t>
            </a:r>
            <a:endParaRPr lang="en-US" sz="2209" dirty="0"/>
          </a:p>
        </p:txBody>
      </p:sp>
      <p:sp>
        <p:nvSpPr>
          <p:cNvPr id="9" name="Text 7"/>
          <p:cNvSpPr/>
          <p:nvPr/>
        </p:nvSpPr>
        <p:spPr>
          <a:xfrm>
            <a:off x="1987272" y="4912995"/>
            <a:ext cx="5204460" cy="74080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Promoting critical thinking and ethical use of social media platforms.</a:t>
            </a:r>
            <a:endParaRPr lang="en-US" sz="1944" dirty="0"/>
          </a:p>
        </p:txBody>
      </p:sp>
      <p:sp>
        <p:nvSpPr>
          <p:cNvPr id="10" name="Shape 8"/>
          <p:cNvSpPr/>
          <p:nvPr/>
        </p:nvSpPr>
        <p:spPr>
          <a:xfrm>
            <a:off x="7438549" y="4414242"/>
            <a:ext cx="555427" cy="555427"/>
          </a:xfrm>
          <a:prstGeom prst="roundRect">
            <a:avLst>
              <a:gd name="adj" fmla="val 13335"/>
            </a:avLst>
          </a:prstGeom>
          <a:solidFill>
            <a:srgbClr val="232629"/>
          </a:solidFill>
          <a:ln/>
        </p:spPr>
      </p:sp>
      <p:sp>
        <p:nvSpPr>
          <p:cNvPr id="11" name="Text 9"/>
          <p:cNvSpPr/>
          <p:nvPr/>
        </p:nvSpPr>
        <p:spPr>
          <a:xfrm>
            <a:off x="7618571" y="4523542"/>
            <a:ext cx="195263" cy="336709"/>
          </a:xfrm>
          <a:prstGeom prst="rect">
            <a:avLst/>
          </a:prstGeom>
          <a:noFill/>
          <a:ln/>
        </p:spPr>
        <p:txBody>
          <a:bodyPr wrap="none" rtlCol="0" anchor="t"/>
          <a:lstStyle/>
          <a:p>
            <a:pPr marL="0" indent="0" algn="ctr">
              <a:lnSpc>
                <a:spcPts val="2651"/>
              </a:lnSpc>
              <a:buNone/>
            </a:pPr>
            <a:r>
              <a:rPr lang="en-US" sz="2651" b="1" kern="0" spc="-27" dirty="0">
                <a:solidFill>
                  <a:srgbClr val="FFFFFF"/>
                </a:solidFill>
                <a:latin typeface="Montserrat" pitchFamily="34" charset="0"/>
                <a:ea typeface="Montserrat" pitchFamily="34" charset="-122"/>
                <a:cs typeface="Montserrat" pitchFamily="34" charset="-120"/>
              </a:rPr>
              <a:t>2</a:t>
            </a:r>
            <a:endParaRPr lang="en-US" sz="2651" dirty="0"/>
          </a:p>
        </p:txBody>
      </p:sp>
      <p:sp>
        <p:nvSpPr>
          <p:cNvPr id="12" name="Text 10"/>
          <p:cNvSpPr/>
          <p:nvPr/>
        </p:nvSpPr>
        <p:spPr>
          <a:xfrm>
            <a:off x="8240792" y="4414242"/>
            <a:ext cx="2805470"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Privacy Protection</a:t>
            </a:r>
            <a:endParaRPr lang="en-US" sz="2209" dirty="0"/>
          </a:p>
        </p:txBody>
      </p:sp>
      <p:sp>
        <p:nvSpPr>
          <p:cNvPr id="13" name="Text 11"/>
          <p:cNvSpPr/>
          <p:nvPr/>
        </p:nvSpPr>
        <p:spPr>
          <a:xfrm>
            <a:off x="8240792" y="4912995"/>
            <a:ext cx="5204460" cy="74080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Developing stronger data security measures and transparent collection practices.</a:t>
            </a:r>
            <a:endParaRPr lang="en-US" sz="1944" dirty="0"/>
          </a:p>
        </p:txBody>
      </p:sp>
      <p:sp>
        <p:nvSpPr>
          <p:cNvPr id="14" name="Shape 12"/>
          <p:cNvSpPr/>
          <p:nvPr/>
        </p:nvSpPr>
        <p:spPr>
          <a:xfrm>
            <a:off x="1185029" y="6178272"/>
            <a:ext cx="555427" cy="555427"/>
          </a:xfrm>
          <a:prstGeom prst="roundRect">
            <a:avLst>
              <a:gd name="adj" fmla="val 13335"/>
            </a:avLst>
          </a:prstGeom>
          <a:solidFill>
            <a:srgbClr val="232629"/>
          </a:solidFill>
          <a:ln/>
        </p:spPr>
      </p:sp>
      <p:sp>
        <p:nvSpPr>
          <p:cNvPr id="15" name="Text 13"/>
          <p:cNvSpPr/>
          <p:nvPr/>
        </p:nvSpPr>
        <p:spPr>
          <a:xfrm>
            <a:off x="1364694" y="6287572"/>
            <a:ext cx="195977" cy="336709"/>
          </a:xfrm>
          <a:prstGeom prst="rect">
            <a:avLst/>
          </a:prstGeom>
          <a:noFill/>
          <a:ln/>
        </p:spPr>
        <p:txBody>
          <a:bodyPr wrap="none" rtlCol="0" anchor="t"/>
          <a:lstStyle/>
          <a:p>
            <a:pPr marL="0" indent="0" algn="ctr">
              <a:lnSpc>
                <a:spcPts val="2651"/>
              </a:lnSpc>
              <a:buNone/>
            </a:pPr>
            <a:r>
              <a:rPr lang="en-US" sz="2651" b="1" kern="0" spc="-27" dirty="0">
                <a:solidFill>
                  <a:srgbClr val="FFFFFF"/>
                </a:solidFill>
                <a:latin typeface="Montserrat" pitchFamily="34" charset="0"/>
                <a:ea typeface="Montserrat" pitchFamily="34" charset="-122"/>
                <a:cs typeface="Montserrat" pitchFamily="34" charset="-120"/>
              </a:rPr>
              <a:t>3</a:t>
            </a:r>
            <a:endParaRPr lang="en-US" sz="2651" dirty="0"/>
          </a:p>
        </p:txBody>
      </p:sp>
      <p:sp>
        <p:nvSpPr>
          <p:cNvPr id="16" name="Text 14"/>
          <p:cNvSpPr/>
          <p:nvPr/>
        </p:nvSpPr>
        <p:spPr>
          <a:xfrm>
            <a:off x="1987272" y="6178272"/>
            <a:ext cx="4055864"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Mental Health Interventions</a:t>
            </a:r>
            <a:endParaRPr lang="en-US" sz="2209" dirty="0"/>
          </a:p>
        </p:txBody>
      </p:sp>
      <p:sp>
        <p:nvSpPr>
          <p:cNvPr id="17" name="Text 15"/>
          <p:cNvSpPr/>
          <p:nvPr/>
        </p:nvSpPr>
        <p:spPr>
          <a:xfrm>
            <a:off x="1987272" y="6677025"/>
            <a:ext cx="5204460" cy="74080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Creating resources to mitigate negative psychological impacts of social media use.</a:t>
            </a:r>
            <a:endParaRPr lang="en-US" sz="1944" dirty="0"/>
          </a:p>
        </p:txBody>
      </p:sp>
      <p:sp>
        <p:nvSpPr>
          <p:cNvPr id="18" name="Shape 16"/>
          <p:cNvSpPr/>
          <p:nvPr/>
        </p:nvSpPr>
        <p:spPr>
          <a:xfrm>
            <a:off x="7438549" y="6178272"/>
            <a:ext cx="555427" cy="555427"/>
          </a:xfrm>
          <a:prstGeom prst="roundRect">
            <a:avLst>
              <a:gd name="adj" fmla="val 13335"/>
            </a:avLst>
          </a:prstGeom>
          <a:solidFill>
            <a:srgbClr val="232629"/>
          </a:solidFill>
          <a:ln/>
        </p:spPr>
      </p:sp>
      <p:sp>
        <p:nvSpPr>
          <p:cNvPr id="19" name="Text 17"/>
          <p:cNvSpPr/>
          <p:nvPr/>
        </p:nvSpPr>
        <p:spPr>
          <a:xfrm>
            <a:off x="7601902" y="6287572"/>
            <a:ext cx="228600" cy="336709"/>
          </a:xfrm>
          <a:prstGeom prst="rect">
            <a:avLst/>
          </a:prstGeom>
          <a:noFill/>
          <a:ln/>
        </p:spPr>
        <p:txBody>
          <a:bodyPr wrap="none" rtlCol="0" anchor="t"/>
          <a:lstStyle/>
          <a:p>
            <a:pPr marL="0" indent="0" algn="ctr">
              <a:lnSpc>
                <a:spcPts val="2651"/>
              </a:lnSpc>
              <a:buNone/>
            </a:pPr>
            <a:r>
              <a:rPr lang="en-US" sz="2651" b="1" kern="0" spc="-27" dirty="0">
                <a:solidFill>
                  <a:srgbClr val="FFFFFF"/>
                </a:solidFill>
                <a:latin typeface="Montserrat" pitchFamily="34" charset="0"/>
                <a:ea typeface="Montserrat" pitchFamily="34" charset="-122"/>
                <a:cs typeface="Montserrat" pitchFamily="34" charset="-120"/>
              </a:rPr>
              <a:t>4</a:t>
            </a:r>
            <a:endParaRPr lang="en-US" sz="2651" dirty="0"/>
          </a:p>
        </p:txBody>
      </p:sp>
      <p:sp>
        <p:nvSpPr>
          <p:cNvPr id="20" name="Text 18"/>
          <p:cNvSpPr/>
          <p:nvPr/>
        </p:nvSpPr>
        <p:spPr>
          <a:xfrm>
            <a:off x="8240792" y="6178272"/>
            <a:ext cx="2988112" cy="350639"/>
          </a:xfrm>
          <a:prstGeom prst="rect">
            <a:avLst/>
          </a:prstGeom>
          <a:noFill/>
          <a:ln/>
        </p:spPr>
        <p:txBody>
          <a:bodyPr wrap="none" rtlCol="0" anchor="t"/>
          <a:lstStyle/>
          <a:p>
            <a:pPr marL="0" indent="0">
              <a:lnSpc>
                <a:spcPts val="2761"/>
              </a:lnSpc>
              <a:buNone/>
            </a:pPr>
            <a:r>
              <a:rPr lang="en-US" sz="2209" b="1" kern="0" spc="-22" dirty="0">
                <a:solidFill>
                  <a:srgbClr val="FFFFFF"/>
                </a:solidFill>
                <a:latin typeface="Montserrat" pitchFamily="34" charset="0"/>
                <a:ea typeface="Montserrat" pitchFamily="34" charset="-122"/>
                <a:cs typeface="Montserrat" pitchFamily="34" charset="-120"/>
              </a:rPr>
              <a:t>Algorithmic Fairness</a:t>
            </a:r>
            <a:endParaRPr lang="en-US" sz="2209" dirty="0"/>
          </a:p>
        </p:txBody>
      </p:sp>
      <p:sp>
        <p:nvSpPr>
          <p:cNvPr id="21" name="Text 19"/>
          <p:cNvSpPr/>
          <p:nvPr/>
        </p:nvSpPr>
        <p:spPr>
          <a:xfrm>
            <a:off x="8240792" y="6677025"/>
            <a:ext cx="5204460" cy="74080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Designing systems that reduce echo chambers and promote diverse viewpoints.</a:t>
            </a:r>
            <a:endParaRPr lang="en-US" sz="1944"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
        <p:nvSpPr>
          <p:cNvPr id="4" name="Text 2"/>
          <p:cNvSpPr/>
          <p:nvPr/>
        </p:nvSpPr>
        <p:spPr>
          <a:xfrm>
            <a:off x="1185029" y="747713"/>
            <a:ext cx="11904345" cy="701397"/>
          </a:xfrm>
          <a:prstGeom prst="rect">
            <a:avLst/>
          </a:prstGeom>
          <a:noFill/>
          <a:ln/>
        </p:spPr>
        <p:txBody>
          <a:bodyPr wrap="none" rtlCol="0" anchor="t"/>
          <a:lstStyle/>
          <a:p>
            <a:pPr marL="0" indent="0">
              <a:lnSpc>
                <a:spcPts val="5523"/>
              </a:lnSpc>
              <a:buNone/>
            </a:pPr>
            <a:r>
              <a:rPr lang="en-US" sz="4418" b="1" kern="0" spc="-44" dirty="0">
                <a:solidFill>
                  <a:srgbClr val="FFFFFF"/>
                </a:solidFill>
                <a:latin typeface="Montserrat" pitchFamily="34" charset="0"/>
                <a:ea typeface="Montserrat" pitchFamily="34" charset="-122"/>
                <a:cs typeface="Montserrat" pitchFamily="34" charset="-120"/>
              </a:rPr>
              <a:t>Conclusion: Balancing Benefits and Risks</a:t>
            </a:r>
            <a:endParaRPr lang="en-US" sz="4418" dirty="0"/>
          </a:p>
        </p:txBody>
      </p:sp>
      <p:sp>
        <p:nvSpPr>
          <p:cNvPr id="5" name="Text 3"/>
          <p:cNvSpPr/>
          <p:nvPr/>
        </p:nvSpPr>
        <p:spPr>
          <a:xfrm>
            <a:off x="1185029" y="1942862"/>
            <a:ext cx="12260223" cy="1852017"/>
          </a:xfrm>
          <a:prstGeom prst="rect">
            <a:avLst/>
          </a:prstGeom>
          <a:noFill/>
          <a:ln/>
        </p:spPr>
        <p:txBody>
          <a:bodyPr wrap="squar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Social media and technology have profoundly transformed communication, interaction, and daily life. While offering immense benefits in connectivity, information access, and opportunities for education and business, they also present significant challenges. Balancing the advantages with ethical considerations and safeguarding against potential harms is crucial. Ongoing research, policy development, and technological innovation are essential to harness the positive potential of social media and technology while mitigating their risks.</a:t>
            </a:r>
            <a:endParaRPr lang="en-US" sz="1944" dirty="0"/>
          </a:p>
        </p:txBody>
      </p:sp>
      <p:sp>
        <p:nvSpPr>
          <p:cNvPr id="6" name="Text 4"/>
          <p:cNvSpPr/>
          <p:nvPr/>
        </p:nvSpPr>
        <p:spPr>
          <a:xfrm>
            <a:off x="1431846" y="4228267"/>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Benefits</a:t>
            </a:r>
            <a:endParaRPr lang="en-US" sz="1944" dirty="0"/>
          </a:p>
        </p:txBody>
      </p:sp>
      <p:sp>
        <p:nvSpPr>
          <p:cNvPr id="7" name="Text 5"/>
          <p:cNvSpPr/>
          <p:nvPr/>
        </p:nvSpPr>
        <p:spPr>
          <a:xfrm>
            <a:off x="7565708" y="4228267"/>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Risks</a:t>
            </a:r>
            <a:endParaRPr lang="en-US" sz="1944" dirty="0"/>
          </a:p>
        </p:txBody>
      </p:sp>
      <p:sp>
        <p:nvSpPr>
          <p:cNvPr id="8" name="Shape 6"/>
          <p:cNvSpPr/>
          <p:nvPr/>
        </p:nvSpPr>
        <p:spPr>
          <a:xfrm>
            <a:off x="1185029" y="4754404"/>
            <a:ext cx="12260223" cy="681871"/>
          </a:xfrm>
          <a:prstGeom prst="rect">
            <a:avLst/>
          </a:prstGeom>
          <a:solidFill>
            <a:srgbClr val="232629"/>
          </a:solidFill>
          <a:ln/>
        </p:spPr>
      </p:sp>
      <p:sp>
        <p:nvSpPr>
          <p:cNvPr id="9" name="Text 7"/>
          <p:cNvSpPr/>
          <p:nvPr/>
        </p:nvSpPr>
        <p:spPr>
          <a:xfrm>
            <a:off x="1431846" y="4910138"/>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Global connectivity</a:t>
            </a:r>
            <a:endParaRPr lang="en-US" sz="1944" dirty="0"/>
          </a:p>
        </p:txBody>
      </p:sp>
      <p:sp>
        <p:nvSpPr>
          <p:cNvPr id="10" name="Text 8"/>
          <p:cNvSpPr/>
          <p:nvPr/>
        </p:nvSpPr>
        <p:spPr>
          <a:xfrm>
            <a:off x="7565708" y="4910138"/>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Privacy concerns</a:t>
            </a:r>
            <a:endParaRPr lang="en-US" sz="1944" dirty="0"/>
          </a:p>
        </p:txBody>
      </p:sp>
      <p:sp>
        <p:nvSpPr>
          <p:cNvPr id="11" name="Text 9"/>
          <p:cNvSpPr/>
          <p:nvPr/>
        </p:nvSpPr>
        <p:spPr>
          <a:xfrm>
            <a:off x="1431846" y="5592008"/>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Information access</a:t>
            </a:r>
            <a:endParaRPr lang="en-US" sz="1944" dirty="0"/>
          </a:p>
        </p:txBody>
      </p:sp>
      <p:sp>
        <p:nvSpPr>
          <p:cNvPr id="12" name="Text 10"/>
          <p:cNvSpPr/>
          <p:nvPr/>
        </p:nvSpPr>
        <p:spPr>
          <a:xfrm>
            <a:off x="7565708" y="5592008"/>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Misinformation spread</a:t>
            </a:r>
            <a:endParaRPr lang="en-US" sz="1944" dirty="0"/>
          </a:p>
        </p:txBody>
      </p:sp>
      <p:sp>
        <p:nvSpPr>
          <p:cNvPr id="13" name="Shape 11"/>
          <p:cNvSpPr/>
          <p:nvPr/>
        </p:nvSpPr>
        <p:spPr>
          <a:xfrm>
            <a:off x="1185029" y="6118146"/>
            <a:ext cx="12260223" cy="681871"/>
          </a:xfrm>
          <a:prstGeom prst="rect">
            <a:avLst/>
          </a:prstGeom>
          <a:solidFill>
            <a:srgbClr val="232629"/>
          </a:solidFill>
          <a:ln/>
        </p:spPr>
      </p:sp>
      <p:sp>
        <p:nvSpPr>
          <p:cNvPr id="14" name="Text 12"/>
          <p:cNvSpPr/>
          <p:nvPr/>
        </p:nvSpPr>
        <p:spPr>
          <a:xfrm>
            <a:off x="1431846" y="6273879"/>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Educational opportunities</a:t>
            </a:r>
            <a:endParaRPr lang="en-US" sz="1944" dirty="0"/>
          </a:p>
        </p:txBody>
      </p:sp>
      <p:sp>
        <p:nvSpPr>
          <p:cNvPr id="15" name="Text 13"/>
          <p:cNvSpPr/>
          <p:nvPr/>
        </p:nvSpPr>
        <p:spPr>
          <a:xfrm>
            <a:off x="7565708" y="6273879"/>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Cyberbullying</a:t>
            </a:r>
            <a:endParaRPr lang="en-US" sz="1944" dirty="0"/>
          </a:p>
        </p:txBody>
      </p:sp>
      <p:sp>
        <p:nvSpPr>
          <p:cNvPr id="16" name="Text 14"/>
          <p:cNvSpPr/>
          <p:nvPr/>
        </p:nvSpPr>
        <p:spPr>
          <a:xfrm>
            <a:off x="1431846" y="6955750"/>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Business growth</a:t>
            </a:r>
            <a:endParaRPr lang="en-US" sz="1944" dirty="0"/>
          </a:p>
        </p:txBody>
      </p:sp>
      <p:sp>
        <p:nvSpPr>
          <p:cNvPr id="17" name="Text 15"/>
          <p:cNvSpPr/>
          <p:nvPr/>
        </p:nvSpPr>
        <p:spPr>
          <a:xfrm>
            <a:off x="7565708" y="6955750"/>
            <a:ext cx="5632609" cy="370403"/>
          </a:xfrm>
          <a:prstGeom prst="rect">
            <a:avLst/>
          </a:prstGeom>
          <a:noFill/>
          <a:ln/>
        </p:spPr>
        <p:txBody>
          <a:bodyPr wrap="none" rtlCol="0" anchor="t"/>
          <a:lstStyle/>
          <a:p>
            <a:pPr marL="0" indent="0">
              <a:lnSpc>
                <a:spcPts val="2916"/>
              </a:lnSpc>
              <a:buNone/>
            </a:pPr>
            <a:r>
              <a:rPr lang="en-US" sz="1944" dirty="0">
                <a:solidFill>
                  <a:srgbClr val="E2E6E9"/>
                </a:solidFill>
                <a:latin typeface="Source Sans Pro" pitchFamily="34" charset="0"/>
                <a:ea typeface="Source Sans Pro" pitchFamily="34" charset="-122"/>
                <a:cs typeface="Source Sans Pro" pitchFamily="34" charset="-120"/>
              </a:rPr>
              <a:t>Addiction potential</a:t>
            </a:r>
            <a:endParaRPr lang="en-US" sz="194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8E8E706-7181-4B57-A3B8-18778C799871}"/>
              </a:ext>
            </a:extLst>
          </p:cNvPr>
          <p:cNvSpPr/>
          <p:nvPr/>
        </p:nvSpPr>
        <p:spPr>
          <a:xfrm>
            <a:off x="-110359" y="-173421"/>
            <a:ext cx="14630400" cy="8229600"/>
          </a:xfrm>
          <a:prstGeom prst="rect">
            <a:avLst/>
          </a:prstGeom>
          <a:solidFill>
            <a:srgbClr val="111213"/>
          </a:solidFill>
          <a:ln/>
        </p:spPr>
      </p:sp>
      <p:sp>
        <p:nvSpPr>
          <p:cNvPr id="3" name="TextBox 2">
            <a:extLst>
              <a:ext uri="{FF2B5EF4-FFF2-40B4-BE49-F238E27FC236}">
                <a16:creationId xmlns:a16="http://schemas.microsoft.com/office/drawing/2014/main" id="{3E7C56DA-C95D-10FC-A5AC-6D366A5C48AD}"/>
              </a:ext>
            </a:extLst>
          </p:cNvPr>
          <p:cNvSpPr txBox="1"/>
          <p:nvPr/>
        </p:nvSpPr>
        <p:spPr>
          <a:xfrm>
            <a:off x="1592318" y="1891863"/>
            <a:ext cx="10973363" cy="5301708"/>
          </a:xfrm>
          <a:prstGeom prst="rect">
            <a:avLst/>
          </a:prstGeom>
          <a:noFill/>
        </p:spPr>
        <p:txBody>
          <a:bodyPr wrap="square" rtlCol="0">
            <a:spAutoFit/>
          </a:bodyPr>
          <a:lstStyle/>
          <a:p>
            <a:pPr marL="0" marR="0">
              <a:lnSpc>
                <a:spcPct val="107000"/>
              </a:lnSpc>
              <a:spcBef>
                <a:spcPts val="0"/>
              </a:spcBef>
              <a:spcAft>
                <a:spcPts val="800"/>
              </a:spcAft>
            </a:pPr>
            <a:r>
              <a:rPr lang="en-US" sz="1800" u="sng" kern="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Bibliography: </a:t>
            </a:r>
            <a:endPar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endParaRPr>
          </a:p>
          <a:p>
            <a:pPr marL="342900" marR="0" lvl="0" indent="-342900">
              <a:buFont typeface="+mj-lt"/>
              <a:buAutoNum type="arabicPeriod"/>
              <a:tabLst>
                <a:tab pos="457200" algn="l"/>
              </a:tabLst>
            </a:pPr>
            <a:r>
              <a:rPr lang="en-US" sz="1800" b="0" dirty="0">
                <a:solidFill>
                  <a:schemeClr val="bg1"/>
                </a:solidFill>
                <a:effectLst/>
                <a:latin typeface="Source Sans Pro" panose="020B0503030403020204" pitchFamily="34" charset="0"/>
                <a:ea typeface="Source Sans Pro" panose="020B0503030403020204" pitchFamily="34" charset="0"/>
              </a:rPr>
              <a:t>Boyd, D. (2014). </a:t>
            </a:r>
            <a:r>
              <a:rPr lang="en-US" sz="1800" b="1" i="1" dirty="0">
                <a:solidFill>
                  <a:schemeClr val="bg1"/>
                </a:solidFill>
                <a:effectLst/>
                <a:latin typeface="Source Sans Pro" panose="020B0503030403020204" pitchFamily="34" charset="0"/>
                <a:ea typeface="Source Sans Pro" panose="020B0503030403020204" pitchFamily="34" charset="0"/>
              </a:rPr>
              <a:t>It's Complicated: The Social Lives of Networked Teens</a:t>
            </a:r>
            <a:r>
              <a:rPr lang="en-US" sz="1800" b="0" dirty="0">
                <a:solidFill>
                  <a:schemeClr val="bg1"/>
                </a:solidFill>
                <a:effectLst/>
                <a:latin typeface="Source Sans Pro" panose="020B0503030403020204" pitchFamily="34" charset="0"/>
                <a:ea typeface="Source Sans Pro" panose="020B0503030403020204" pitchFamily="34" charset="0"/>
              </a:rPr>
              <a:t>.</a:t>
            </a:r>
            <a:endParaRPr lang="en-US" sz="1800" dirty="0">
              <a:solidFill>
                <a:schemeClr val="bg1"/>
              </a:solidFill>
              <a:effectLst/>
              <a:latin typeface="Source Sans Pro" panose="020B0503030403020204" pitchFamily="34" charset="0"/>
              <a:ea typeface="Source Sans Pro" panose="020B0503030403020204" pitchFamily="34" charset="0"/>
            </a:endParaRP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Ellison, N. B., &amp; Boyd, D. (2013).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Sociality through Social Network Sites</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Turkle, S. (2011).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Alone Together: Why We Expect More from Technology and Less from Each Other</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Hampton, K. N., Sessions, L. F., &amp; Her, E. J. (2011).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Core Networks, Social Isolation, and New Media: How Internet and Mobile Phone Use is Related to Network Size and Diversity</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Chou, H. T. G., &amp; Edge, N. (2012).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“They Are Happier and Having Better Lives than I Am”: The Impact of Using Facebook on Perceptions of Others' Lives</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Andreassen</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C. S., </a:t>
            </a: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Torsheim</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T., </a:t>
            </a: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Brunborg</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G. S., &amp; </a:t>
            </a: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Pallesen</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S. (2012).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Development of a Facebook Addiction Scale</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Kaplan, A. M., &amp; </a:t>
            </a: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Haenlein</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M. (2010).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Users of the World, Unite! The Challenges and Opportunities of Social Media</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Livingstone, S. (2008).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Taking Risky Opportunities in Youthful Content Creation: Teenagers' Use of Social Networking Sites for Intimacy, Privacy, and Self-Expression</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0"/>
              </a:spcAft>
              <a:buFont typeface="+mj-lt"/>
              <a:buAutoNum type="arabicPeriod"/>
              <a:tabLst>
                <a:tab pos="457200" algn="l"/>
              </a:tabLst>
            </a:pPr>
            <a:r>
              <a:rPr lang="en-US" sz="1800" kern="100" dirty="0" err="1">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Papacharissi</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Z. (2011).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 Networked Self: Identity, Community, and Culture on Social Network Sites</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342900" marR="0" lvl="0" indent="-342900">
              <a:lnSpc>
                <a:spcPct val="107000"/>
              </a:lnSpc>
              <a:spcBef>
                <a:spcPts val="0"/>
              </a:spcBef>
              <a:spcAft>
                <a:spcPts val="800"/>
              </a:spcAft>
              <a:buFont typeface="+mj-lt"/>
              <a:buAutoNum type="arabicPeriod"/>
              <a:tabLst>
                <a:tab pos="457200" algn="l"/>
              </a:tabLst>
            </a:pP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Vaidhyanathan, S. (2018). </a:t>
            </a:r>
            <a:r>
              <a:rPr lang="en-US" sz="1800" i="1"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Antisocial Media: How Facebook Disconnects Us and Undermines Democracy</a:t>
            </a:r>
            <a:r>
              <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a:t>
            </a:r>
          </a:p>
          <a:p>
            <a:pPr marL="0" marR="0">
              <a:lnSpc>
                <a:spcPct val="107000"/>
              </a:lnSpc>
              <a:spcBef>
                <a:spcPts val="0"/>
              </a:spcBef>
              <a:spcAft>
                <a:spcPts val="800"/>
              </a:spcAft>
            </a:pPr>
            <a:r>
              <a:rPr lang="en-US" sz="1800" kern="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rPr>
              <a:t> </a:t>
            </a:r>
            <a:endParaRPr lang="en-US" sz="1800" kern="100" dirty="0">
              <a:solidFill>
                <a:schemeClr val="bg1"/>
              </a:solidFill>
              <a:effectLst/>
              <a:latin typeface="Source Sans Pro" panose="020B0503030403020204" pitchFamily="34" charset="0"/>
              <a:ea typeface="Source Sans Pro" panose="020B0503030403020204" pitchFamily="34" charset="0"/>
              <a:cs typeface="Times New Roman" panose="02020603050405020304" pitchFamily="18" charset="0"/>
            </a:endParaRPr>
          </a:p>
        </p:txBody>
      </p:sp>
    </p:spTree>
    <p:extLst>
      <p:ext uri="{BB962C8B-B14F-4D97-AF65-F5344CB8AC3E}">
        <p14:creationId xmlns:p14="http://schemas.microsoft.com/office/powerpoint/2010/main" val="4105612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1236</Words>
  <Application>Microsoft Office PowerPoint</Application>
  <PresentationFormat>Custom</PresentationFormat>
  <Paragraphs>109</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Montserrat</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SAHAB JEE</cp:lastModifiedBy>
  <cp:revision>5</cp:revision>
  <dcterms:created xsi:type="dcterms:W3CDTF">2024-06-25T22:25:59Z</dcterms:created>
  <dcterms:modified xsi:type="dcterms:W3CDTF">2024-06-25T23:22:57Z</dcterms:modified>
</cp:coreProperties>
</file>